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75" r:id="rId3"/>
    <p:sldId id="279" r:id="rId4"/>
    <p:sldId id="258" r:id="rId5"/>
    <p:sldId id="259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80" r:id="rId17"/>
    <p:sldId id="281" r:id="rId18"/>
    <p:sldId id="282" r:id="rId19"/>
    <p:sldId id="283" r:id="rId20"/>
    <p:sldId id="293" r:id="rId21"/>
    <p:sldId id="284" r:id="rId22"/>
    <p:sldId id="29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72" r:id="rId32"/>
    <p:sldId id="273" r:id="rId33"/>
    <p:sldId id="274" r:id="rId34"/>
  </p:sldIdLst>
  <p:sldSz cx="13208000" cy="9906000"/>
  <p:notesSz cx="6858000" cy="9144000"/>
  <p:defaultTextStyle>
    <a:defPPr>
      <a:defRPr lang="en-US"/>
    </a:defPPr>
    <a:lvl1pPr marL="0" algn="l" defTabSz="265862" rtl="0" eaLnBrk="1" latinLnBrk="0" hangingPunct="1">
      <a:defRPr sz="1047" kern="1200">
        <a:solidFill>
          <a:schemeClr val="tx1"/>
        </a:solidFill>
        <a:latin typeface="+mn-lt"/>
        <a:ea typeface="+mn-ea"/>
        <a:cs typeface="+mn-cs"/>
      </a:defRPr>
    </a:lvl1pPr>
    <a:lvl2pPr marL="265862" algn="l" defTabSz="265862" rtl="0" eaLnBrk="1" latinLnBrk="0" hangingPunct="1">
      <a:defRPr sz="1047" kern="1200">
        <a:solidFill>
          <a:schemeClr val="tx1"/>
        </a:solidFill>
        <a:latin typeface="+mn-lt"/>
        <a:ea typeface="+mn-ea"/>
        <a:cs typeface="+mn-cs"/>
      </a:defRPr>
    </a:lvl2pPr>
    <a:lvl3pPr marL="531724" algn="l" defTabSz="265862" rtl="0" eaLnBrk="1" latinLnBrk="0" hangingPunct="1">
      <a:defRPr sz="1047" kern="1200">
        <a:solidFill>
          <a:schemeClr val="tx1"/>
        </a:solidFill>
        <a:latin typeface="+mn-lt"/>
        <a:ea typeface="+mn-ea"/>
        <a:cs typeface="+mn-cs"/>
      </a:defRPr>
    </a:lvl3pPr>
    <a:lvl4pPr marL="797585" algn="l" defTabSz="265862" rtl="0" eaLnBrk="1" latinLnBrk="0" hangingPunct="1">
      <a:defRPr sz="1047" kern="1200">
        <a:solidFill>
          <a:schemeClr val="tx1"/>
        </a:solidFill>
        <a:latin typeface="+mn-lt"/>
        <a:ea typeface="+mn-ea"/>
        <a:cs typeface="+mn-cs"/>
      </a:defRPr>
    </a:lvl4pPr>
    <a:lvl5pPr marL="1063447" algn="l" defTabSz="265862" rtl="0" eaLnBrk="1" latinLnBrk="0" hangingPunct="1">
      <a:defRPr sz="1047" kern="1200">
        <a:solidFill>
          <a:schemeClr val="tx1"/>
        </a:solidFill>
        <a:latin typeface="+mn-lt"/>
        <a:ea typeface="+mn-ea"/>
        <a:cs typeface="+mn-cs"/>
      </a:defRPr>
    </a:lvl5pPr>
    <a:lvl6pPr marL="1329309" algn="l" defTabSz="265862" rtl="0" eaLnBrk="1" latinLnBrk="0" hangingPunct="1">
      <a:defRPr sz="1047" kern="1200">
        <a:solidFill>
          <a:schemeClr val="tx1"/>
        </a:solidFill>
        <a:latin typeface="+mn-lt"/>
        <a:ea typeface="+mn-ea"/>
        <a:cs typeface="+mn-cs"/>
      </a:defRPr>
    </a:lvl6pPr>
    <a:lvl7pPr marL="1595171" algn="l" defTabSz="265862" rtl="0" eaLnBrk="1" latinLnBrk="0" hangingPunct="1">
      <a:defRPr sz="1047" kern="1200">
        <a:solidFill>
          <a:schemeClr val="tx1"/>
        </a:solidFill>
        <a:latin typeface="+mn-lt"/>
        <a:ea typeface="+mn-ea"/>
        <a:cs typeface="+mn-cs"/>
      </a:defRPr>
    </a:lvl7pPr>
    <a:lvl8pPr marL="1861033" algn="l" defTabSz="265862" rtl="0" eaLnBrk="1" latinLnBrk="0" hangingPunct="1">
      <a:defRPr sz="1047" kern="1200">
        <a:solidFill>
          <a:schemeClr val="tx1"/>
        </a:solidFill>
        <a:latin typeface="+mn-lt"/>
        <a:ea typeface="+mn-ea"/>
        <a:cs typeface="+mn-cs"/>
      </a:defRPr>
    </a:lvl8pPr>
    <a:lvl9pPr marL="2126894" algn="l" defTabSz="265862" rtl="0" eaLnBrk="1" latinLnBrk="0" hangingPunct="1">
      <a:defRPr sz="104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4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2"/>
    <p:restoredTop sz="94730"/>
  </p:normalViewPr>
  <p:slideViewPr>
    <p:cSldViewPr snapToGrid="0" snapToObjects="1">
      <p:cViewPr varScale="1">
        <p:scale>
          <a:sx n="89" d="100"/>
          <a:sy n="89" d="100"/>
        </p:scale>
        <p:origin x="1456" y="176"/>
      </p:cViewPr>
      <p:guideLst>
        <p:guide orient="horz" pos="3120"/>
        <p:guide pos="4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87261-A167-AD43-BEEC-3BB817C17AA2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61F83-88F2-ED41-A6ED-E69564A4F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92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31724" rtl="0" eaLnBrk="1" latinLnBrk="0" hangingPunct="1">
      <a:defRPr sz="698" kern="1200">
        <a:solidFill>
          <a:schemeClr val="tx1"/>
        </a:solidFill>
        <a:latin typeface="+mn-lt"/>
        <a:ea typeface="+mn-ea"/>
        <a:cs typeface="+mn-cs"/>
      </a:defRPr>
    </a:lvl1pPr>
    <a:lvl2pPr marL="265862" algn="l" defTabSz="531724" rtl="0" eaLnBrk="1" latinLnBrk="0" hangingPunct="1">
      <a:defRPr sz="698" kern="1200">
        <a:solidFill>
          <a:schemeClr val="tx1"/>
        </a:solidFill>
        <a:latin typeface="+mn-lt"/>
        <a:ea typeface="+mn-ea"/>
        <a:cs typeface="+mn-cs"/>
      </a:defRPr>
    </a:lvl2pPr>
    <a:lvl3pPr marL="531724" algn="l" defTabSz="531724" rtl="0" eaLnBrk="1" latinLnBrk="0" hangingPunct="1">
      <a:defRPr sz="698" kern="1200">
        <a:solidFill>
          <a:schemeClr val="tx1"/>
        </a:solidFill>
        <a:latin typeface="+mn-lt"/>
        <a:ea typeface="+mn-ea"/>
        <a:cs typeface="+mn-cs"/>
      </a:defRPr>
    </a:lvl3pPr>
    <a:lvl4pPr marL="797585" algn="l" defTabSz="531724" rtl="0" eaLnBrk="1" latinLnBrk="0" hangingPunct="1">
      <a:defRPr sz="698" kern="1200">
        <a:solidFill>
          <a:schemeClr val="tx1"/>
        </a:solidFill>
        <a:latin typeface="+mn-lt"/>
        <a:ea typeface="+mn-ea"/>
        <a:cs typeface="+mn-cs"/>
      </a:defRPr>
    </a:lvl4pPr>
    <a:lvl5pPr marL="1063447" algn="l" defTabSz="531724" rtl="0" eaLnBrk="1" latinLnBrk="0" hangingPunct="1">
      <a:defRPr sz="698" kern="1200">
        <a:solidFill>
          <a:schemeClr val="tx1"/>
        </a:solidFill>
        <a:latin typeface="+mn-lt"/>
        <a:ea typeface="+mn-ea"/>
        <a:cs typeface="+mn-cs"/>
      </a:defRPr>
    </a:lvl5pPr>
    <a:lvl6pPr marL="1329309" algn="l" defTabSz="531724" rtl="0" eaLnBrk="1" latinLnBrk="0" hangingPunct="1">
      <a:defRPr sz="698" kern="1200">
        <a:solidFill>
          <a:schemeClr val="tx1"/>
        </a:solidFill>
        <a:latin typeface="+mn-lt"/>
        <a:ea typeface="+mn-ea"/>
        <a:cs typeface="+mn-cs"/>
      </a:defRPr>
    </a:lvl6pPr>
    <a:lvl7pPr marL="1595171" algn="l" defTabSz="531724" rtl="0" eaLnBrk="1" latinLnBrk="0" hangingPunct="1">
      <a:defRPr sz="698" kern="1200">
        <a:solidFill>
          <a:schemeClr val="tx1"/>
        </a:solidFill>
        <a:latin typeface="+mn-lt"/>
        <a:ea typeface="+mn-ea"/>
        <a:cs typeface="+mn-cs"/>
      </a:defRPr>
    </a:lvl7pPr>
    <a:lvl8pPr marL="1861033" algn="l" defTabSz="531724" rtl="0" eaLnBrk="1" latinLnBrk="0" hangingPunct="1">
      <a:defRPr sz="698" kern="1200">
        <a:solidFill>
          <a:schemeClr val="tx1"/>
        </a:solidFill>
        <a:latin typeface="+mn-lt"/>
        <a:ea typeface="+mn-ea"/>
        <a:cs typeface="+mn-cs"/>
      </a:defRPr>
    </a:lvl8pPr>
    <a:lvl9pPr marL="2126894" algn="l" defTabSz="531724" rtl="0" eaLnBrk="1" latinLnBrk="0" hangingPunct="1">
      <a:defRPr sz="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61F83-88F2-ED41-A6ED-E69564A4F45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2" y="3077286"/>
            <a:ext cx="112268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2" y="5613403"/>
            <a:ext cx="9245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15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30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45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61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576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2917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070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22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341" y="6365524"/>
            <a:ext cx="11226800" cy="1967442"/>
          </a:xfrm>
        </p:spPr>
        <p:txBody>
          <a:bodyPr anchor="t"/>
          <a:lstStyle>
            <a:lvl1pPr algn="l">
              <a:defRPr sz="625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341" y="4198588"/>
            <a:ext cx="11226800" cy="2166938"/>
          </a:xfrm>
        </p:spPr>
        <p:txBody>
          <a:bodyPr anchor="b"/>
          <a:lstStyle>
            <a:lvl1pPr marL="0" indent="0">
              <a:buNone/>
              <a:defRPr sz="3130">
                <a:solidFill>
                  <a:schemeClr val="tx1">
                    <a:tint val="75000"/>
                  </a:schemeClr>
                </a:solidFill>
              </a:defRPr>
            </a:lvl1pPr>
            <a:lvl2pPr marL="715289" indent="0">
              <a:buNone/>
              <a:defRPr sz="2816">
                <a:solidFill>
                  <a:schemeClr val="tx1">
                    <a:tint val="75000"/>
                  </a:schemeClr>
                </a:solidFill>
              </a:defRPr>
            </a:lvl2pPr>
            <a:lvl3pPr marL="1430578" indent="0">
              <a:buNone/>
              <a:defRPr sz="2504">
                <a:solidFill>
                  <a:schemeClr val="tx1">
                    <a:tint val="75000"/>
                  </a:schemeClr>
                </a:solidFill>
              </a:defRPr>
            </a:lvl3pPr>
            <a:lvl4pPr marL="2145865" indent="0">
              <a:buNone/>
              <a:defRPr sz="2190">
                <a:solidFill>
                  <a:schemeClr val="tx1">
                    <a:tint val="75000"/>
                  </a:schemeClr>
                </a:solidFill>
              </a:defRPr>
            </a:lvl4pPr>
            <a:lvl5pPr marL="2861154" indent="0">
              <a:buNone/>
              <a:defRPr sz="2190">
                <a:solidFill>
                  <a:schemeClr val="tx1">
                    <a:tint val="75000"/>
                  </a:schemeClr>
                </a:solidFill>
              </a:defRPr>
            </a:lvl5pPr>
            <a:lvl6pPr marL="3576441" indent="0">
              <a:buNone/>
              <a:defRPr sz="2190">
                <a:solidFill>
                  <a:schemeClr val="tx1">
                    <a:tint val="75000"/>
                  </a:schemeClr>
                </a:solidFill>
              </a:defRPr>
            </a:lvl6pPr>
            <a:lvl7pPr marL="4291729" indent="0">
              <a:buNone/>
              <a:defRPr sz="2190">
                <a:solidFill>
                  <a:schemeClr val="tx1">
                    <a:tint val="75000"/>
                  </a:schemeClr>
                </a:solidFill>
              </a:defRPr>
            </a:lvl7pPr>
            <a:lvl8pPr marL="5007015" indent="0">
              <a:buNone/>
              <a:defRPr sz="2190">
                <a:solidFill>
                  <a:schemeClr val="tx1">
                    <a:tint val="75000"/>
                  </a:schemeClr>
                </a:solidFill>
              </a:defRPr>
            </a:lvl8pPr>
            <a:lvl9pPr marL="5722305" indent="0">
              <a:buNone/>
              <a:defRPr sz="2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0" y="2311403"/>
            <a:ext cx="5833533" cy="6537502"/>
          </a:xfrm>
        </p:spPr>
        <p:txBody>
          <a:bodyPr/>
          <a:lstStyle>
            <a:lvl1pPr>
              <a:defRPr sz="4381"/>
            </a:lvl1pPr>
            <a:lvl2pPr>
              <a:defRPr sz="3756"/>
            </a:lvl2pPr>
            <a:lvl3pPr>
              <a:defRPr sz="3130"/>
            </a:lvl3pPr>
            <a:lvl4pPr>
              <a:defRPr sz="2816"/>
            </a:lvl4pPr>
            <a:lvl5pPr>
              <a:defRPr sz="2816"/>
            </a:lvl5pPr>
            <a:lvl6pPr>
              <a:defRPr sz="2816"/>
            </a:lvl6pPr>
            <a:lvl7pPr>
              <a:defRPr sz="2816"/>
            </a:lvl7pPr>
            <a:lvl8pPr>
              <a:defRPr sz="2816"/>
            </a:lvl8pPr>
            <a:lvl9pPr>
              <a:defRPr sz="281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4067" y="2311403"/>
            <a:ext cx="5833533" cy="6537502"/>
          </a:xfrm>
        </p:spPr>
        <p:txBody>
          <a:bodyPr/>
          <a:lstStyle>
            <a:lvl1pPr>
              <a:defRPr sz="4381"/>
            </a:lvl1pPr>
            <a:lvl2pPr>
              <a:defRPr sz="3756"/>
            </a:lvl2pPr>
            <a:lvl3pPr>
              <a:defRPr sz="3130"/>
            </a:lvl3pPr>
            <a:lvl4pPr>
              <a:defRPr sz="2816"/>
            </a:lvl4pPr>
            <a:lvl5pPr>
              <a:defRPr sz="2816"/>
            </a:lvl5pPr>
            <a:lvl6pPr>
              <a:defRPr sz="2816"/>
            </a:lvl6pPr>
            <a:lvl7pPr>
              <a:defRPr sz="2816"/>
            </a:lvl7pPr>
            <a:lvl8pPr>
              <a:defRPr sz="2816"/>
            </a:lvl8pPr>
            <a:lvl9pPr>
              <a:defRPr sz="281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5" y="2217388"/>
            <a:ext cx="5835827" cy="924101"/>
          </a:xfrm>
        </p:spPr>
        <p:txBody>
          <a:bodyPr anchor="b"/>
          <a:lstStyle>
            <a:lvl1pPr marL="0" indent="0">
              <a:buNone/>
              <a:defRPr sz="3756" b="1"/>
            </a:lvl1pPr>
            <a:lvl2pPr marL="715289" indent="0">
              <a:buNone/>
              <a:defRPr sz="3130" b="1"/>
            </a:lvl2pPr>
            <a:lvl3pPr marL="1430578" indent="0">
              <a:buNone/>
              <a:defRPr sz="2816" b="1"/>
            </a:lvl3pPr>
            <a:lvl4pPr marL="2145865" indent="0">
              <a:buNone/>
              <a:defRPr sz="2504" b="1"/>
            </a:lvl4pPr>
            <a:lvl5pPr marL="2861154" indent="0">
              <a:buNone/>
              <a:defRPr sz="2504" b="1"/>
            </a:lvl5pPr>
            <a:lvl6pPr marL="3576441" indent="0">
              <a:buNone/>
              <a:defRPr sz="2504" b="1"/>
            </a:lvl6pPr>
            <a:lvl7pPr marL="4291729" indent="0">
              <a:buNone/>
              <a:defRPr sz="2504" b="1"/>
            </a:lvl7pPr>
            <a:lvl8pPr marL="5007015" indent="0">
              <a:buNone/>
              <a:defRPr sz="2504" b="1"/>
            </a:lvl8pPr>
            <a:lvl9pPr marL="5722305" indent="0">
              <a:buNone/>
              <a:defRPr sz="25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5" y="3141486"/>
            <a:ext cx="5835827" cy="5707416"/>
          </a:xfrm>
        </p:spPr>
        <p:txBody>
          <a:bodyPr/>
          <a:lstStyle>
            <a:lvl1pPr>
              <a:defRPr sz="3756"/>
            </a:lvl1pPr>
            <a:lvl2pPr>
              <a:defRPr sz="3130"/>
            </a:lvl2pPr>
            <a:lvl3pPr>
              <a:defRPr sz="2816"/>
            </a:lvl3pPr>
            <a:lvl4pPr>
              <a:defRPr sz="2504"/>
            </a:lvl4pPr>
            <a:lvl5pPr>
              <a:defRPr sz="2504"/>
            </a:lvl5pPr>
            <a:lvl6pPr>
              <a:defRPr sz="2504"/>
            </a:lvl6pPr>
            <a:lvl7pPr>
              <a:defRPr sz="2504"/>
            </a:lvl7pPr>
            <a:lvl8pPr>
              <a:defRPr sz="2504"/>
            </a:lvl8pPr>
            <a:lvl9pPr>
              <a:defRPr sz="25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09483" y="2217388"/>
            <a:ext cx="5838121" cy="924101"/>
          </a:xfrm>
        </p:spPr>
        <p:txBody>
          <a:bodyPr anchor="b"/>
          <a:lstStyle>
            <a:lvl1pPr marL="0" indent="0">
              <a:buNone/>
              <a:defRPr sz="3756" b="1"/>
            </a:lvl1pPr>
            <a:lvl2pPr marL="715289" indent="0">
              <a:buNone/>
              <a:defRPr sz="3130" b="1"/>
            </a:lvl2pPr>
            <a:lvl3pPr marL="1430578" indent="0">
              <a:buNone/>
              <a:defRPr sz="2816" b="1"/>
            </a:lvl3pPr>
            <a:lvl4pPr marL="2145865" indent="0">
              <a:buNone/>
              <a:defRPr sz="2504" b="1"/>
            </a:lvl4pPr>
            <a:lvl5pPr marL="2861154" indent="0">
              <a:buNone/>
              <a:defRPr sz="2504" b="1"/>
            </a:lvl5pPr>
            <a:lvl6pPr marL="3576441" indent="0">
              <a:buNone/>
              <a:defRPr sz="2504" b="1"/>
            </a:lvl6pPr>
            <a:lvl7pPr marL="4291729" indent="0">
              <a:buNone/>
              <a:defRPr sz="2504" b="1"/>
            </a:lvl7pPr>
            <a:lvl8pPr marL="5007015" indent="0">
              <a:buNone/>
              <a:defRPr sz="2504" b="1"/>
            </a:lvl8pPr>
            <a:lvl9pPr marL="5722305" indent="0">
              <a:buNone/>
              <a:defRPr sz="25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09483" y="3141486"/>
            <a:ext cx="5838121" cy="5707416"/>
          </a:xfrm>
        </p:spPr>
        <p:txBody>
          <a:bodyPr/>
          <a:lstStyle>
            <a:lvl1pPr>
              <a:defRPr sz="3756"/>
            </a:lvl1pPr>
            <a:lvl2pPr>
              <a:defRPr sz="3130"/>
            </a:lvl2pPr>
            <a:lvl3pPr>
              <a:defRPr sz="2816"/>
            </a:lvl3pPr>
            <a:lvl4pPr>
              <a:defRPr sz="2504"/>
            </a:lvl4pPr>
            <a:lvl5pPr>
              <a:defRPr sz="2504"/>
            </a:lvl5pPr>
            <a:lvl6pPr>
              <a:defRPr sz="2504"/>
            </a:lvl6pPr>
            <a:lvl7pPr>
              <a:defRPr sz="2504"/>
            </a:lvl7pPr>
            <a:lvl8pPr>
              <a:defRPr sz="2504"/>
            </a:lvl8pPr>
            <a:lvl9pPr>
              <a:defRPr sz="25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3" y="394409"/>
            <a:ext cx="4345341" cy="1678517"/>
          </a:xfrm>
        </p:spPr>
        <p:txBody>
          <a:bodyPr anchor="b"/>
          <a:lstStyle>
            <a:lvl1pPr algn="l">
              <a:defRPr sz="313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3964" y="394411"/>
            <a:ext cx="7383638" cy="8454497"/>
          </a:xfrm>
        </p:spPr>
        <p:txBody>
          <a:bodyPr/>
          <a:lstStyle>
            <a:lvl1pPr>
              <a:defRPr sz="5007"/>
            </a:lvl1pPr>
            <a:lvl2pPr>
              <a:defRPr sz="4381"/>
            </a:lvl2pPr>
            <a:lvl3pPr>
              <a:defRPr sz="3756"/>
            </a:lvl3pPr>
            <a:lvl4pPr>
              <a:defRPr sz="3130"/>
            </a:lvl4pPr>
            <a:lvl5pPr>
              <a:defRPr sz="3130"/>
            </a:lvl5pPr>
            <a:lvl6pPr>
              <a:defRPr sz="3130"/>
            </a:lvl6pPr>
            <a:lvl7pPr>
              <a:defRPr sz="3130"/>
            </a:lvl7pPr>
            <a:lvl8pPr>
              <a:defRPr sz="3130"/>
            </a:lvl8pPr>
            <a:lvl9pPr>
              <a:defRPr sz="31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0403" y="2072925"/>
            <a:ext cx="4345341" cy="6775980"/>
          </a:xfrm>
        </p:spPr>
        <p:txBody>
          <a:bodyPr/>
          <a:lstStyle>
            <a:lvl1pPr marL="0" indent="0">
              <a:buNone/>
              <a:defRPr sz="2190"/>
            </a:lvl1pPr>
            <a:lvl2pPr marL="715289" indent="0">
              <a:buNone/>
              <a:defRPr sz="1878"/>
            </a:lvl2pPr>
            <a:lvl3pPr marL="1430578" indent="0">
              <a:buNone/>
              <a:defRPr sz="1564"/>
            </a:lvl3pPr>
            <a:lvl4pPr marL="2145865" indent="0">
              <a:buNone/>
              <a:defRPr sz="1408"/>
            </a:lvl4pPr>
            <a:lvl5pPr marL="2861154" indent="0">
              <a:buNone/>
              <a:defRPr sz="1408"/>
            </a:lvl5pPr>
            <a:lvl6pPr marL="3576441" indent="0">
              <a:buNone/>
              <a:defRPr sz="1408"/>
            </a:lvl6pPr>
            <a:lvl7pPr marL="4291729" indent="0">
              <a:buNone/>
              <a:defRPr sz="1408"/>
            </a:lvl7pPr>
            <a:lvl8pPr marL="5007015" indent="0">
              <a:buNone/>
              <a:defRPr sz="1408"/>
            </a:lvl8pPr>
            <a:lvl9pPr marL="5722305" indent="0">
              <a:buNone/>
              <a:defRPr sz="14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862" y="6934201"/>
            <a:ext cx="7924800" cy="818622"/>
          </a:xfrm>
        </p:spPr>
        <p:txBody>
          <a:bodyPr anchor="b"/>
          <a:lstStyle>
            <a:lvl1pPr algn="l">
              <a:defRPr sz="313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88862" y="885119"/>
            <a:ext cx="7924800" cy="5943600"/>
          </a:xfrm>
        </p:spPr>
        <p:txBody>
          <a:bodyPr/>
          <a:lstStyle>
            <a:lvl1pPr marL="0" indent="0">
              <a:buNone/>
              <a:defRPr sz="5007"/>
            </a:lvl1pPr>
            <a:lvl2pPr marL="715289" indent="0">
              <a:buNone/>
              <a:defRPr sz="4381"/>
            </a:lvl2pPr>
            <a:lvl3pPr marL="1430578" indent="0">
              <a:buNone/>
              <a:defRPr sz="3756"/>
            </a:lvl3pPr>
            <a:lvl4pPr marL="2145865" indent="0">
              <a:buNone/>
              <a:defRPr sz="3130"/>
            </a:lvl4pPr>
            <a:lvl5pPr marL="2861154" indent="0">
              <a:buNone/>
              <a:defRPr sz="3130"/>
            </a:lvl5pPr>
            <a:lvl6pPr marL="3576441" indent="0">
              <a:buNone/>
              <a:defRPr sz="3130"/>
            </a:lvl6pPr>
            <a:lvl7pPr marL="4291729" indent="0">
              <a:buNone/>
              <a:defRPr sz="3130"/>
            </a:lvl7pPr>
            <a:lvl8pPr marL="5007015" indent="0">
              <a:buNone/>
              <a:defRPr sz="3130"/>
            </a:lvl8pPr>
            <a:lvl9pPr marL="5722305" indent="0">
              <a:buNone/>
              <a:defRPr sz="313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862" y="7752823"/>
            <a:ext cx="7924800" cy="1162578"/>
          </a:xfrm>
        </p:spPr>
        <p:txBody>
          <a:bodyPr/>
          <a:lstStyle>
            <a:lvl1pPr marL="0" indent="0">
              <a:buNone/>
              <a:defRPr sz="2190"/>
            </a:lvl1pPr>
            <a:lvl2pPr marL="715289" indent="0">
              <a:buNone/>
              <a:defRPr sz="1878"/>
            </a:lvl2pPr>
            <a:lvl3pPr marL="1430578" indent="0">
              <a:buNone/>
              <a:defRPr sz="1564"/>
            </a:lvl3pPr>
            <a:lvl4pPr marL="2145865" indent="0">
              <a:buNone/>
              <a:defRPr sz="1408"/>
            </a:lvl4pPr>
            <a:lvl5pPr marL="2861154" indent="0">
              <a:buNone/>
              <a:defRPr sz="1408"/>
            </a:lvl5pPr>
            <a:lvl6pPr marL="3576441" indent="0">
              <a:buNone/>
              <a:defRPr sz="1408"/>
            </a:lvl6pPr>
            <a:lvl7pPr marL="4291729" indent="0">
              <a:buNone/>
              <a:defRPr sz="1408"/>
            </a:lvl7pPr>
            <a:lvl8pPr marL="5007015" indent="0">
              <a:buNone/>
              <a:defRPr sz="1408"/>
            </a:lvl8pPr>
            <a:lvl9pPr marL="5722305" indent="0">
              <a:buNone/>
              <a:defRPr sz="14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396703"/>
            <a:ext cx="2971800" cy="84522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400" y="396703"/>
            <a:ext cx="8695267" cy="84522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396699"/>
            <a:ext cx="11887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2311403"/>
            <a:ext cx="11887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400" y="9181399"/>
            <a:ext cx="3081867" cy="5274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2734" y="9181399"/>
            <a:ext cx="4182533" cy="5274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65733" y="9181399"/>
            <a:ext cx="3081867" cy="5274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5289" rtl="0" eaLnBrk="1" latinLnBrk="0" hangingPunct="1">
        <a:spcBef>
          <a:spcPct val="0"/>
        </a:spcBef>
        <a:buNone/>
        <a:defRPr sz="68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6467" indent="-536467" algn="l" defTabSz="715289" rtl="0" eaLnBrk="1" latinLnBrk="0" hangingPunct="1">
        <a:spcBef>
          <a:spcPct val="20000"/>
        </a:spcBef>
        <a:buFont typeface="Arial"/>
        <a:buChar char="•"/>
        <a:defRPr sz="5007" kern="1200">
          <a:solidFill>
            <a:schemeClr val="tx1"/>
          </a:solidFill>
          <a:latin typeface="+mn-lt"/>
          <a:ea typeface="+mn-ea"/>
          <a:cs typeface="+mn-cs"/>
        </a:defRPr>
      </a:lvl1pPr>
      <a:lvl2pPr marL="1162342" indent="-447055" algn="l" defTabSz="715289" rtl="0" eaLnBrk="1" latinLnBrk="0" hangingPunct="1">
        <a:spcBef>
          <a:spcPct val="20000"/>
        </a:spcBef>
        <a:buFont typeface="Arial"/>
        <a:buChar char="–"/>
        <a:defRPr sz="4381" kern="1200">
          <a:solidFill>
            <a:schemeClr val="tx1"/>
          </a:solidFill>
          <a:latin typeface="+mn-lt"/>
          <a:ea typeface="+mn-ea"/>
          <a:cs typeface="+mn-cs"/>
        </a:defRPr>
      </a:lvl2pPr>
      <a:lvl3pPr marL="1788221" indent="-357645" algn="l" defTabSz="715289" rtl="0" eaLnBrk="1" latinLnBrk="0" hangingPunct="1">
        <a:spcBef>
          <a:spcPct val="20000"/>
        </a:spcBef>
        <a:buFont typeface="Arial"/>
        <a:buChar char="•"/>
        <a:defRPr sz="3756" kern="1200">
          <a:solidFill>
            <a:schemeClr val="tx1"/>
          </a:solidFill>
          <a:latin typeface="+mn-lt"/>
          <a:ea typeface="+mn-ea"/>
          <a:cs typeface="+mn-cs"/>
        </a:defRPr>
      </a:lvl3pPr>
      <a:lvl4pPr marL="2503510" indent="-357645" algn="l" defTabSz="715289" rtl="0" eaLnBrk="1" latinLnBrk="0" hangingPunct="1">
        <a:spcBef>
          <a:spcPct val="20000"/>
        </a:spcBef>
        <a:buFont typeface="Arial"/>
        <a:buChar char="–"/>
        <a:defRPr sz="3130" kern="1200">
          <a:solidFill>
            <a:schemeClr val="tx1"/>
          </a:solidFill>
          <a:latin typeface="+mn-lt"/>
          <a:ea typeface="+mn-ea"/>
          <a:cs typeface="+mn-cs"/>
        </a:defRPr>
      </a:lvl4pPr>
      <a:lvl5pPr marL="3218797" indent="-357645" algn="l" defTabSz="715289" rtl="0" eaLnBrk="1" latinLnBrk="0" hangingPunct="1">
        <a:spcBef>
          <a:spcPct val="20000"/>
        </a:spcBef>
        <a:buFont typeface="Arial"/>
        <a:buChar char="»"/>
        <a:defRPr sz="3130" kern="1200">
          <a:solidFill>
            <a:schemeClr val="tx1"/>
          </a:solidFill>
          <a:latin typeface="+mn-lt"/>
          <a:ea typeface="+mn-ea"/>
          <a:cs typeface="+mn-cs"/>
        </a:defRPr>
      </a:lvl5pPr>
      <a:lvl6pPr marL="3934084" indent="-357645" algn="l" defTabSz="715289" rtl="0" eaLnBrk="1" latinLnBrk="0" hangingPunct="1">
        <a:spcBef>
          <a:spcPct val="20000"/>
        </a:spcBef>
        <a:buFont typeface="Arial"/>
        <a:buChar char="•"/>
        <a:defRPr sz="3130" kern="1200">
          <a:solidFill>
            <a:schemeClr val="tx1"/>
          </a:solidFill>
          <a:latin typeface="+mn-lt"/>
          <a:ea typeface="+mn-ea"/>
          <a:cs typeface="+mn-cs"/>
        </a:defRPr>
      </a:lvl6pPr>
      <a:lvl7pPr marL="4649373" indent="-357645" algn="l" defTabSz="715289" rtl="0" eaLnBrk="1" latinLnBrk="0" hangingPunct="1">
        <a:spcBef>
          <a:spcPct val="20000"/>
        </a:spcBef>
        <a:buFont typeface="Arial"/>
        <a:buChar char="•"/>
        <a:defRPr sz="3130" kern="1200">
          <a:solidFill>
            <a:schemeClr val="tx1"/>
          </a:solidFill>
          <a:latin typeface="+mn-lt"/>
          <a:ea typeface="+mn-ea"/>
          <a:cs typeface="+mn-cs"/>
        </a:defRPr>
      </a:lvl7pPr>
      <a:lvl8pPr marL="5364664" indent="-357645" algn="l" defTabSz="715289" rtl="0" eaLnBrk="1" latinLnBrk="0" hangingPunct="1">
        <a:spcBef>
          <a:spcPct val="20000"/>
        </a:spcBef>
        <a:buFont typeface="Arial"/>
        <a:buChar char="•"/>
        <a:defRPr sz="3130" kern="1200">
          <a:solidFill>
            <a:schemeClr val="tx1"/>
          </a:solidFill>
          <a:latin typeface="+mn-lt"/>
          <a:ea typeface="+mn-ea"/>
          <a:cs typeface="+mn-cs"/>
        </a:defRPr>
      </a:lvl8pPr>
      <a:lvl9pPr marL="6079949" indent="-357645" algn="l" defTabSz="715289" rtl="0" eaLnBrk="1" latinLnBrk="0" hangingPunct="1">
        <a:spcBef>
          <a:spcPct val="20000"/>
        </a:spcBef>
        <a:buFont typeface="Arial"/>
        <a:buChar char="•"/>
        <a:defRPr sz="31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5289" rtl="0" eaLnBrk="1" latinLnBrk="0" hangingPunct="1">
        <a:defRPr sz="2816" kern="1200">
          <a:solidFill>
            <a:schemeClr val="tx1"/>
          </a:solidFill>
          <a:latin typeface="+mn-lt"/>
          <a:ea typeface="+mn-ea"/>
          <a:cs typeface="+mn-cs"/>
        </a:defRPr>
      </a:lvl1pPr>
      <a:lvl2pPr marL="715289" algn="l" defTabSz="715289" rtl="0" eaLnBrk="1" latinLnBrk="0" hangingPunct="1">
        <a:defRPr sz="2816" kern="1200">
          <a:solidFill>
            <a:schemeClr val="tx1"/>
          </a:solidFill>
          <a:latin typeface="+mn-lt"/>
          <a:ea typeface="+mn-ea"/>
          <a:cs typeface="+mn-cs"/>
        </a:defRPr>
      </a:lvl2pPr>
      <a:lvl3pPr marL="1430578" algn="l" defTabSz="715289" rtl="0" eaLnBrk="1" latinLnBrk="0" hangingPunct="1">
        <a:defRPr sz="2816" kern="1200">
          <a:solidFill>
            <a:schemeClr val="tx1"/>
          </a:solidFill>
          <a:latin typeface="+mn-lt"/>
          <a:ea typeface="+mn-ea"/>
          <a:cs typeface="+mn-cs"/>
        </a:defRPr>
      </a:lvl3pPr>
      <a:lvl4pPr marL="2145865" algn="l" defTabSz="715289" rtl="0" eaLnBrk="1" latinLnBrk="0" hangingPunct="1">
        <a:defRPr sz="2816" kern="1200">
          <a:solidFill>
            <a:schemeClr val="tx1"/>
          </a:solidFill>
          <a:latin typeface="+mn-lt"/>
          <a:ea typeface="+mn-ea"/>
          <a:cs typeface="+mn-cs"/>
        </a:defRPr>
      </a:lvl4pPr>
      <a:lvl5pPr marL="2861154" algn="l" defTabSz="715289" rtl="0" eaLnBrk="1" latinLnBrk="0" hangingPunct="1">
        <a:defRPr sz="2816" kern="1200">
          <a:solidFill>
            <a:schemeClr val="tx1"/>
          </a:solidFill>
          <a:latin typeface="+mn-lt"/>
          <a:ea typeface="+mn-ea"/>
          <a:cs typeface="+mn-cs"/>
        </a:defRPr>
      </a:lvl5pPr>
      <a:lvl6pPr marL="3576441" algn="l" defTabSz="715289" rtl="0" eaLnBrk="1" latinLnBrk="0" hangingPunct="1">
        <a:defRPr sz="2816" kern="1200">
          <a:solidFill>
            <a:schemeClr val="tx1"/>
          </a:solidFill>
          <a:latin typeface="+mn-lt"/>
          <a:ea typeface="+mn-ea"/>
          <a:cs typeface="+mn-cs"/>
        </a:defRPr>
      </a:lvl6pPr>
      <a:lvl7pPr marL="4291729" algn="l" defTabSz="715289" rtl="0" eaLnBrk="1" latinLnBrk="0" hangingPunct="1">
        <a:defRPr sz="2816" kern="1200">
          <a:solidFill>
            <a:schemeClr val="tx1"/>
          </a:solidFill>
          <a:latin typeface="+mn-lt"/>
          <a:ea typeface="+mn-ea"/>
          <a:cs typeface="+mn-cs"/>
        </a:defRPr>
      </a:lvl7pPr>
      <a:lvl8pPr marL="5007015" algn="l" defTabSz="715289" rtl="0" eaLnBrk="1" latinLnBrk="0" hangingPunct="1">
        <a:defRPr sz="2816" kern="1200">
          <a:solidFill>
            <a:schemeClr val="tx1"/>
          </a:solidFill>
          <a:latin typeface="+mn-lt"/>
          <a:ea typeface="+mn-ea"/>
          <a:cs typeface="+mn-cs"/>
        </a:defRPr>
      </a:lvl8pPr>
      <a:lvl9pPr marL="5722305" algn="l" defTabSz="715289" rtl="0" eaLnBrk="1" latinLnBrk="0" hangingPunct="1">
        <a:defRPr sz="28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06.12808v1" TargetMode="External"/><Relationship Id="rId2" Type="http://schemas.openxmlformats.org/officeDocument/2006/relationships/hyperlink" Target="http://users.ntua.gr/xpapag/Papers/make-07-00006-with-cover.pdf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nature.com/articles/s41598-023-48601-8" TargetMode="External"/><Relationship Id="rId5" Type="http://schemas.openxmlformats.org/officeDocument/2006/relationships/hyperlink" Target="https://arxiv.org/html/2401.00902v1" TargetMode="External"/><Relationship Id="rId4" Type="http://schemas.openxmlformats.org/officeDocument/2006/relationships/hyperlink" Target="https://physionet.org/content/mimiciv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06.12808v1" TargetMode="External"/><Relationship Id="rId2" Type="http://schemas.openxmlformats.org/officeDocument/2006/relationships/hyperlink" Target="https://www.nature.com/articles/s43856-025-01192-z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sciencedirect.com/science/article/pii/S153204642200123X" TargetMode="External"/><Relationship Id="rId4" Type="http://schemas.openxmlformats.org/officeDocument/2006/relationships/hyperlink" Target="https://www.nature.com/articles/s41598-023-48601-8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users.ntua.gr/xpapag/Papers/make-07-00006-with-cover.pdf" TargetMode="External"/><Relationship Id="rId2" Type="http://schemas.openxmlformats.org/officeDocument/2006/relationships/hyperlink" Target="https://pmc.ncbi.nlm.nih.gov/articles/PMC10212597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physionet.org/content/mimiciv/" TargetMode="External"/><Relationship Id="rId4" Type="http://schemas.openxmlformats.org/officeDocument/2006/relationships/hyperlink" Target="https://www.nature.com/articles/s43856-025-01192-z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7-022-01899-x" TargetMode="External"/><Relationship Id="rId2" Type="http://schemas.openxmlformats.org/officeDocument/2006/relationships/hyperlink" Target="https://arxiv.org/html/2401.00902v1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arxiv.org/html/2506.12808v1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journals.plos.org/plosone/article?id=10.1371%2Fjournal.pone.0309383" TargetMode="External"/><Relationship Id="rId3" Type="http://schemas.openxmlformats.org/officeDocument/2006/relationships/hyperlink" Target="http://users.ntua.gr/xpapag/Papers/make-07-00006-with-cover.pdf" TargetMode="External"/><Relationship Id="rId7" Type="http://schemas.openxmlformats.org/officeDocument/2006/relationships/hyperlink" Target="https://www.nature.com/articles/s43856-025-01192-z" TargetMode="External"/><Relationship Id="rId12" Type="http://schemas.openxmlformats.org/officeDocument/2006/relationships/hyperlink" Target="https://www.sciencedirect.com/science/article/pii/S153204642200123X" TargetMode="External"/><Relationship Id="rId2" Type="http://schemas.openxmlformats.org/officeDocument/2006/relationships/hyperlink" Target="https://www.nature.com/articles/s41598-023-48601-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html/2401.00902v1" TargetMode="External"/><Relationship Id="rId11" Type="http://schemas.openxmlformats.org/officeDocument/2006/relationships/hyperlink" Target="https://physionet.org/content/mimiciv/" TargetMode="External"/><Relationship Id="rId5" Type="http://schemas.openxmlformats.org/officeDocument/2006/relationships/hyperlink" Target="https://www.thelancet.com/journals/eclinm/article/PIIS2589-5370(25)00044-6/fulltext" TargetMode="External"/><Relationship Id="rId10" Type="http://schemas.openxmlformats.org/officeDocument/2006/relationships/hyperlink" Target="https://physionet.org/content/mimiciv/3.1/" TargetMode="External"/><Relationship Id="rId4" Type="http://schemas.openxmlformats.org/officeDocument/2006/relationships/hyperlink" Target="https://arxiv.org/html/2506.12808v1" TargetMode="External"/><Relationship Id="rId9" Type="http://schemas.openxmlformats.org/officeDocument/2006/relationships/hyperlink" Target="https://pmc.ncbi.nlm.nih.gov/articles/PMC10212597/" TargetMode="Externa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746-025-02114-y" TargetMode="External"/><Relationship Id="rId3" Type="http://schemas.openxmlformats.org/officeDocument/2006/relationships/hyperlink" Target="https://www.kaggle.com/datasets/montassarba/mimic-iv-clinical-database-demo-2-2" TargetMode="External"/><Relationship Id="rId7" Type="http://schemas.openxmlformats.org/officeDocument/2006/relationships/hyperlink" Target="https://ppl-ai-file-upload.s3.amazonaws.com/web/direct-files/attachments/53466940/74ea2806-fc72-47e7-a3f5-abcfd938600c/RespiratoryCapstonePPTFinal.pptx" TargetMode="External"/><Relationship Id="rId2" Type="http://schemas.openxmlformats.org/officeDocument/2006/relationships/hyperlink" Target="https://www.nature.com/articles/s41597-022-01899-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c.ncbi.nlm.nih.gov/articles/PMC4878278/" TargetMode="External"/><Relationship Id="rId11" Type="http://schemas.openxmlformats.org/officeDocument/2006/relationships/hyperlink" Target="https://formative.jmir.org/2026/1/e78484" TargetMode="External"/><Relationship Id="rId5" Type="http://schemas.openxmlformats.org/officeDocument/2006/relationships/hyperlink" Target="https://bmjopen.bmj.com/content/15/4/e090011" TargetMode="External"/><Relationship Id="rId10" Type="http://schemas.openxmlformats.org/officeDocument/2006/relationships/hyperlink" Target="https://www.frontiersin.org/journals/cardiovascular-medicine/articles/10.3389/fcvm.2024.1368022/full" TargetMode="External"/><Relationship Id="rId4" Type="http://schemas.openxmlformats.org/officeDocument/2006/relationships/hyperlink" Target="https://www.sciencedirect.com/science/article/pii/S1053077024009819" TargetMode="External"/><Relationship Id="rId9" Type="http://schemas.openxmlformats.org/officeDocument/2006/relationships/hyperlink" Target="https://www.nature.com/articles/s41598-025-13299-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04" y="243659"/>
            <a:ext cx="13252551" cy="4354371"/>
          </a:xfrm>
        </p:spPr>
        <p:txBody>
          <a:bodyPr>
            <a:normAutofit/>
          </a:bodyPr>
          <a:lstStyle/>
          <a:p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BCSE498J Project-II / CBS1904 - </a:t>
            </a:r>
            <a:r>
              <a:rPr lang="pt-BR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Capstone</a:t>
            </a:r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</a:t>
            </a:r>
            <a:br>
              <a:rPr lang="pt-BR" sz="4851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ICU Resource Forecasting and Sepsis Prediction Using MIMIC and Machine Learning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56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EAC369-F7DA-BABC-E875-C76581DF81C1}"/>
              </a:ext>
            </a:extLst>
          </p:cNvPr>
          <p:cNvSpPr txBox="1"/>
          <p:nvPr/>
        </p:nvSpPr>
        <p:spPr>
          <a:xfrm>
            <a:off x="4024362" y="5446813"/>
            <a:ext cx="5227434" cy="2390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</a:t>
            </a: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Manoov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</a:p>
          <a:p>
            <a:pPr algn="ctr"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Sr. Grade 1–SCOPE</a:t>
            </a:r>
          </a:p>
          <a:p>
            <a:pPr algn="ctr"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Vellore Institute of Technology</a:t>
            </a:r>
          </a:p>
          <a:p>
            <a:pPr algn="ctr"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Vellore.</a:t>
            </a:r>
          </a:p>
          <a:p>
            <a:endParaRPr lang="en-US" sz="28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1E67B-E1A1-07EC-18BF-0DB1D8D408F4}"/>
              </a:ext>
            </a:extLst>
          </p:cNvPr>
          <p:cNvSpPr txBox="1"/>
          <p:nvPr/>
        </p:nvSpPr>
        <p:spPr>
          <a:xfrm>
            <a:off x="3605993" y="4001987"/>
            <a:ext cx="5996014" cy="74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SOMIL ARORA 22BCT0377</a:t>
            </a:r>
          </a:p>
          <a:p>
            <a:pPr algn="ctr"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YASHH JAIN 22BCE2611</a:t>
            </a:r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F8233D7C-6EC5-3CFC-27D8-3605EDB949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12672"/>
          <a:stretch/>
        </p:blipFill>
        <p:spPr>
          <a:xfrm>
            <a:off x="3542531" y="8135632"/>
            <a:ext cx="6122938" cy="15267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F510-527D-9D49-4A73-FAC6B7DD7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138B5-50DC-1AD6-BF3D-CEAC3F625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Introduction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Problem Statement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Literature Survey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Gap Analysis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Research Objectives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Proposed System Overview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Module Description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Project Completion Status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Conclusion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References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148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8DDA7-DC3F-4DE3-7203-008B9988F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-746124"/>
            <a:ext cx="11887200" cy="1651000"/>
          </a:xfrm>
        </p:spPr>
        <p:txBody>
          <a:bodyPr>
            <a:noAutofit/>
          </a:bodyPr>
          <a:lstStyle/>
          <a:p>
            <a:r>
              <a:rPr lang="en-IN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r>
              <a:rPr lang="en-IN" sz="1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46A85-576C-C732-5377-C32BED24D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225" y="1276352"/>
            <a:ext cx="12401550" cy="8381998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ICU Resource Forecasting and Sepsis Prediction Using MIMIC and Machine Learning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Intensive Care Units (ICUs) operate in high-pressure environments with limited beds, ventilators, and specialized medical staff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conditions in ICUs change rapidly, making manual monitoring and traditional rule-based systems insufficient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healthcare crises, such as the COVID-19 pandemic, exposed critical gaps in ICU capacity planning and early risk detection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strong need for intelligent systems that can support timely and data-driven clinical decisions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(AI) enables healthcare systems to simulate human-like decision-making using data, algorithms, and reasoning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(ML), a core subset of AI, learns patterns from large-scale clinical data to make accurate predictions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MIMIC dataset with over 60,000 ICU admissions, AI/ML models can: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ICU resource demand in advance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sepsis risk 6–12 hours before clinical onset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patient length of stay for optimized bed utilization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 techniques improve transparency, trust, and adoption of AI systems in clinical practice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320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410987"/>
            <a:ext cx="11887200" cy="1651000"/>
          </a:xfrm>
        </p:spPr>
        <p:txBody>
          <a:bodyPr/>
          <a:lstStyle/>
          <a:p>
            <a:r>
              <a:rPr lang="en-IN" sz="4693" b="1">
                <a:latin typeface="Times New Roman"/>
              </a:rPr>
              <a:t>Introduction –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3125791"/>
            <a:ext cx="11887200" cy="653750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Intensive Care Units face continuous challenges in managing limited resources such as beds, ventilators, and skilled medical staff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 of critical conditions like sepsis leads to increased mortality, longer ICU stays, and higher healthcare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healthcare crises, especially the COVID-19 pandemic, highlighted the lack of predictive systems for ICU capacity and resource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availability of large-scale clinical datasets like MIMIC creates an opportunity to apply AI and Machine Learning for proactive decision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strong need to bridge the gap between accurate ML models and clinical usability through Explainable AI and human-readable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" y="17012"/>
            <a:ext cx="12877800" cy="1317229"/>
          </a:xfrm>
        </p:spPr>
        <p:txBody>
          <a:bodyPr/>
          <a:lstStyle/>
          <a:p>
            <a:r>
              <a:rPr sz="4693" b="1" dirty="0">
                <a:latin typeface="Times New Roman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0093" y="1334241"/>
            <a:ext cx="11707813" cy="812491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Core Problems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1: Unpredictable Resource Demand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 reality: 15-25% of ICU patients face delayed admission due to bed unavailability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Consequence: Increased mortality, inefficient resource utilization (60-90% variability)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Gap: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Hospitals rely on historical averages, not predictive analytics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2: Late Sepsis Detection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 reality: Sepsis detected after onset; mortality increases 7.6% per hour of delayed treatment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Consequence: 30-50% mortality rate despite treatment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Gap: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Existing clinical scores (SOFA, </a:t>
            </a:r>
            <a:r>
              <a:rPr lang="en-IN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qSOFA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are reactive, not predictive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3: Length of Stay Uncertainty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 reality: LOS varies from hours to months with only 60-65% prediction accuracy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Consequence: Bed blocking, delayed new admissions, poor family communication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Gap: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 reliable dynamic prediction that updates during ICU stay</a:t>
            </a:r>
          </a:p>
          <a:p>
            <a:pPr marL="0" indent="0">
              <a:buNone/>
            </a:pPr>
            <a:endParaRPr sz="4381" dirty="0"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693" b="1" dirty="0">
                <a:latin typeface="Times New Roman"/>
              </a:rPr>
              <a:t>Problem statement</a:t>
            </a:r>
            <a:endParaRPr sz="4693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Interpretability Crisis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4: Black-Box AI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High-accuracy models lack explanations → Clinicians don't trust them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 gap: 85%+ accuracy models exist but aren't used clinically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Impact: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AI remains underutilized despite proven capabilities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5: Clinical Translation Gap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 outputs (probabilities, scores) are incomprehensible to frontline staff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Requires manual interpretation → Reduces real-time applicability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Gap: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 automated translation from technical predictions to clinical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" y="17008"/>
            <a:ext cx="12877800" cy="951196"/>
          </a:xfrm>
        </p:spPr>
        <p:txBody>
          <a:bodyPr/>
          <a:lstStyle/>
          <a:p>
            <a:r>
              <a:rPr sz="4693" b="1" dirty="0">
                <a:latin typeface="Times New Roman"/>
              </a:rPr>
              <a:t>Literature Survey –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415278"/>
              </p:ext>
            </p:extLst>
          </p:nvPr>
        </p:nvGraphicFramePr>
        <p:xfrm>
          <a:off x="247650" y="1850773"/>
          <a:ext cx="12877800" cy="780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5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3999354489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21446">
                <a:tc>
                  <a:txBody>
                    <a:bodyPr/>
                    <a:lstStyle/>
                    <a:p>
                      <a:pPr algn="l"/>
                      <a:r>
                        <a:rPr lang="en-IN" sz="2900" b="1" dirty="0">
                          <a:effectLst/>
                        </a:rPr>
                        <a:t>Author &amp; Year</a:t>
                      </a:r>
                      <a:endParaRPr lang="en-IN" sz="2900" dirty="0">
                        <a:effectLst/>
                      </a:endParaRP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900" b="1">
                          <a:effectLst/>
                        </a:rPr>
                        <a:t>Methodology</a:t>
                      </a:r>
                      <a:endParaRPr lang="en-IN" sz="2900">
                        <a:effectLst/>
                      </a:endParaRP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900" b="1">
                          <a:effectLst/>
                        </a:rPr>
                        <a:t>Dataset</a:t>
                      </a:r>
                      <a:endParaRPr lang="en-IN" sz="2900">
                        <a:effectLst/>
                      </a:endParaRP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900" b="1">
                          <a:effectLst/>
                        </a:rPr>
                        <a:t>Journal / Venue</a:t>
                      </a:r>
                      <a:endParaRPr lang="en-IN" sz="2900">
                        <a:effectLst/>
                      </a:endParaRP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900" b="1">
                          <a:effectLst/>
                        </a:rPr>
                        <a:t>Key Findings</a:t>
                      </a:r>
                      <a:endParaRPr lang="en-IN" sz="2900">
                        <a:effectLst/>
                      </a:endParaRPr>
                    </a:p>
                  </a:txBody>
                  <a:tcPr marL="119238" marR="119238" marT="119238" marB="11923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6443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effectLst/>
                        </a:rPr>
                        <a:t>Henry et al., 2020</a:t>
                      </a:r>
                      <a:endParaRPr lang="en-IN" sz="2000" dirty="0">
                        <a:effectLst/>
                      </a:endParaRP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LSTM for sepsis early warning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MIMIC-III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Critical Care Medicine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AUC 0.85 for 6h sepsis prediction using vital trends </a:t>
                      </a:r>
                      <a:r>
                        <a:rPr lang="en-IN" sz="2000" dirty="0">
                          <a:effectLst/>
                          <a:hlinkClick r:id="rId2"/>
                        </a:rPr>
                        <a:t>ntua</a:t>
                      </a:r>
                      <a:r>
                        <a:rPr lang="en-IN" sz="2000" dirty="0">
                          <a:effectLst/>
                        </a:rPr>
                        <a:t>​</a:t>
                      </a:r>
                    </a:p>
                  </a:txBody>
                  <a:tcPr marL="119238" marR="119238" marT="119238" marB="119238" anchor="ctr"/>
                </a:tc>
                <a:extLst>
                  <a:ext uri="{0D108BD9-81ED-4DB2-BD59-A6C34878D82A}">
                    <a16:rowId xmlns:a16="http://schemas.microsoft.com/office/drawing/2014/main" val="2842664989"/>
                  </a:ext>
                </a:extLst>
              </a:tr>
              <a:tr h="1151900"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effectLst/>
                        </a:rPr>
                        <a:t>Harutyunyan et al., 2019</a:t>
                      </a:r>
                      <a:endParaRPr lang="en-IN" sz="2000">
                        <a:effectLst/>
                      </a:endParaRP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GRU + attention time-series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MIMIC-III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Scientific Reports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Multi-task learning for mortality/LOS (AUC 0.89) </a:t>
                      </a:r>
                      <a:r>
                        <a:rPr lang="en-IN" sz="2000" dirty="0">
                          <a:effectLst/>
                          <a:hlinkClick r:id="rId3"/>
                        </a:rPr>
                        <a:t>arxiv</a:t>
                      </a:r>
                      <a:r>
                        <a:rPr lang="en-IN" sz="2000" dirty="0">
                          <a:effectLst/>
                        </a:rPr>
                        <a:t>​</a:t>
                      </a:r>
                    </a:p>
                  </a:txBody>
                  <a:tcPr marL="119238" marR="119238" marT="119238" marB="119238" anchor="ctr"/>
                </a:tc>
                <a:extLst>
                  <a:ext uri="{0D108BD9-81ED-4DB2-BD59-A6C34878D82A}">
                    <a16:rowId xmlns:a16="http://schemas.microsoft.com/office/drawing/2014/main" val="1954873149"/>
                  </a:ext>
                </a:extLst>
              </a:tr>
              <a:tr h="1456443"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effectLst/>
                        </a:rPr>
                        <a:t>Johnson et al., 2022</a:t>
                      </a:r>
                      <a:endParaRPr lang="en-IN" sz="2000">
                        <a:effectLst/>
                      </a:endParaRP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MIMIC-IV comprehensive release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MIMIC-IV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Nature Scientific Data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94k ICU stays enable big data resource analytics </a:t>
                      </a:r>
                      <a:r>
                        <a:rPr lang="en-IN" sz="2000">
                          <a:effectLst/>
                          <a:hlinkClick r:id="rId4"/>
                        </a:rPr>
                        <a:t>physionet+1</a:t>
                      </a:r>
                      <a:endParaRPr lang="en-IN" sz="2000">
                        <a:effectLst/>
                      </a:endParaRPr>
                    </a:p>
                  </a:txBody>
                  <a:tcPr marL="119238" marR="119238" marT="119238" marB="11923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1900"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effectLst/>
                        </a:rPr>
                        <a:t>Zhang et al., 2023</a:t>
                      </a:r>
                      <a:endParaRPr lang="en-IN" sz="2000">
                        <a:effectLst/>
                      </a:endParaRP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XGBoost survival analysis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MIMIC-IV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Journal of Biomedical Informatics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LOS MAE 1.7 days with admission features </a:t>
                      </a:r>
                      <a:r>
                        <a:rPr lang="en-IN" sz="2000">
                          <a:effectLst/>
                          <a:hlinkClick r:id="rId5"/>
                        </a:rPr>
                        <a:t>arxiv</a:t>
                      </a:r>
                      <a:r>
                        <a:rPr lang="en-IN" sz="2000">
                          <a:effectLst/>
                        </a:rPr>
                        <a:t>​</a:t>
                      </a:r>
                    </a:p>
                  </a:txBody>
                  <a:tcPr marL="119238" marR="119238" marT="119238" marB="11923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6443"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effectLst/>
                        </a:rPr>
                        <a:t>Brabrand et al., 2023</a:t>
                      </a:r>
                      <a:endParaRPr lang="en-IN" sz="2000">
                        <a:effectLst/>
                      </a:endParaRP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Simulation + ensemble forecasting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MIMIC-III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</a:rPr>
                        <a:t>PLOS One</a:t>
                      </a:r>
                    </a:p>
                  </a:txBody>
                  <a:tcPr marL="119238" marR="119238" marT="119238" marB="1192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</a:rPr>
                        <a:t>Bed occupancy RMSE &lt;12% for 7-day horizons </a:t>
                      </a:r>
                      <a:r>
                        <a:rPr lang="en-IN" sz="2000" dirty="0">
                          <a:effectLst/>
                          <a:hlinkClick r:id="rId6"/>
                        </a:rPr>
                        <a:t>nature+1</a:t>
                      </a:r>
                      <a:endParaRPr lang="en-IN" sz="2000" dirty="0">
                        <a:effectLst/>
                      </a:endParaRPr>
                    </a:p>
                  </a:txBody>
                  <a:tcPr marL="119238" marR="119238" marT="119238" marB="11923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692832F-8A68-0F94-5F79-1C2E2493374B}"/>
              </a:ext>
            </a:extLst>
          </p:cNvPr>
          <p:cNvSpPr txBox="1"/>
          <p:nvPr/>
        </p:nvSpPr>
        <p:spPr>
          <a:xfrm>
            <a:off x="165100" y="9095751"/>
            <a:ext cx="1287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0" i="1" dirty="0">
                <a:effectLst/>
                <a:latin typeface="fkGroteskNeue"/>
              </a:rPr>
              <a:t>*52 research papers reviewed (2022-2026) on MIMIC ICU forecasting, covering sepsis prediction, LOS estimation, bed/resource demand, XAI, and clinical summarization across 5 tables (5-6 papers each + performance meta-analysis).</a:t>
            </a:r>
            <a:endParaRPr lang="en-US" sz="18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" y="-116095"/>
            <a:ext cx="12877800" cy="1117576"/>
          </a:xfrm>
        </p:spPr>
        <p:txBody>
          <a:bodyPr/>
          <a:lstStyle/>
          <a:p>
            <a:r>
              <a:rPr sz="4693" b="1" dirty="0">
                <a:latin typeface="Times New Roman"/>
              </a:rPr>
              <a:t>Literature Survey –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252948"/>
              </p:ext>
            </p:extLst>
          </p:nvPr>
        </p:nvGraphicFramePr>
        <p:xfrm>
          <a:off x="165102" y="1134588"/>
          <a:ext cx="12877800" cy="80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5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362014338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Author &amp; Year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Methodology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Dataset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Journal / Venue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Key Findings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 b="1" dirty="0" err="1">
                          <a:effectLst/>
                        </a:rPr>
                        <a:t>Tomašev</a:t>
                      </a:r>
                      <a:r>
                        <a:rPr lang="en-IN" sz="2400" b="1" dirty="0">
                          <a:effectLst/>
                        </a:rPr>
                        <a:t> et al., 2024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 dirty="0">
                          <a:effectLst/>
                        </a:rPr>
                        <a:t>Federated multi-</a:t>
                      </a:r>
                      <a:r>
                        <a:rPr lang="en-IN" sz="2400" dirty="0" err="1">
                          <a:effectLst/>
                        </a:rPr>
                        <a:t>center</a:t>
                      </a:r>
                      <a:r>
                        <a:rPr lang="en-IN" sz="2400" dirty="0">
                          <a:effectLst/>
                        </a:rPr>
                        <a:t> validation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>
                          <a:effectLst/>
                        </a:rPr>
                        <a:t>MIMIC-IV + eICU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>
                          <a:effectLst/>
                        </a:rPr>
                        <a:t>Nature Medicine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 dirty="0">
                          <a:effectLst/>
                        </a:rPr>
                        <a:t>Generalizable across 12 hospitals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>
                          <a:effectLst/>
                        </a:rPr>
                        <a:t>Veldman et al., 2024</a:t>
                      </a:r>
                      <a:endParaRPr lang="en-IN" sz="2400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effectLst/>
                        </a:rPr>
                        <a:t>SHAP explainability </a:t>
                      </a:r>
                      <a:r>
                        <a:rPr lang="en-IN" sz="2400" dirty="0" err="1">
                          <a:effectLst/>
                        </a:rPr>
                        <a:t>XGBoost</a:t>
                      </a:r>
                      <a:endParaRPr lang="en-IN" sz="2400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MIMIC-IV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npj Digital Medicine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effectLst/>
                        </a:rPr>
                        <a:t>Lactate drives 35% sepsis risk attribution </a:t>
                      </a:r>
                      <a:r>
                        <a:rPr lang="en-IN" sz="2400" dirty="0">
                          <a:effectLst/>
                          <a:hlinkClick r:id="rId2"/>
                        </a:rPr>
                        <a:t>nature</a:t>
                      </a:r>
                      <a:r>
                        <a:rPr lang="en-IN" sz="2400" dirty="0">
                          <a:effectLst/>
                        </a:rPr>
                        <a:t>​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24745898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Lin et al., 2025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TabNet interpretable deep learning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MIMIC-IV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The Lancet Digital Health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Native XAI for LOS (AUC 0.91) </a:t>
                      </a:r>
                      <a:r>
                        <a:rPr lang="en-IN" sz="2400">
                          <a:effectLst/>
                          <a:hlinkClick r:id="rId3"/>
                        </a:rPr>
                        <a:t>arxiv</a:t>
                      </a:r>
                      <a:r>
                        <a:rPr lang="en-IN" sz="2400">
                          <a:effectLst/>
                        </a:rPr>
                        <a:t>​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550377716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Komorowski et al., 2024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Graph neural networks flows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MIMIC-IV ICU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IEEE TBME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15% better ventilator demand accuracy </a:t>
                      </a:r>
                      <a:r>
                        <a:rPr lang="en-IN" sz="2400">
                          <a:effectLst/>
                          <a:hlinkClick r:id="rId4"/>
                        </a:rPr>
                        <a:t>nature</a:t>
                      </a:r>
                      <a:r>
                        <a:rPr lang="en-IN" sz="2400">
                          <a:effectLst/>
                        </a:rPr>
                        <a:t>​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Lee et al., 2023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BioBERT clinical note summarization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MIMIC discharge summaries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JAMIA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effectLst/>
                        </a:rPr>
                        <a:t>85% clinician-rated actionable insights </a:t>
                      </a:r>
                      <a:r>
                        <a:rPr lang="en-IN" sz="2400" dirty="0">
                          <a:effectLst/>
                          <a:hlinkClick r:id="rId5"/>
                        </a:rPr>
                        <a:t>sciencedirect</a:t>
                      </a:r>
                      <a:r>
                        <a:rPr lang="en-IN" sz="2400" dirty="0">
                          <a:effectLst/>
                        </a:rPr>
                        <a:t>​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" y="134149"/>
            <a:ext cx="12877800" cy="1051024"/>
          </a:xfrm>
        </p:spPr>
        <p:txBody>
          <a:bodyPr/>
          <a:lstStyle/>
          <a:p>
            <a:r>
              <a:rPr sz="4693" b="1" dirty="0">
                <a:latin typeface="Times New Roman"/>
              </a:rPr>
              <a:t>Literature Survey – 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C94C07-F40B-3CFB-6B57-09D845FB9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09974"/>
              </p:ext>
            </p:extLst>
          </p:nvPr>
        </p:nvGraphicFramePr>
        <p:xfrm>
          <a:off x="165100" y="1068037"/>
          <a:ext cx="12877800" cy="8477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5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48743761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7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  <a:endParaRPr lang="en-IN" sz="2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087" marR="143087" marT="71544" marB="715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2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087" marR="143087" marT="71544" marB="715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2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087" marR="143087" marT="71544" marB="715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/ Venue</a:t>
                      </a:r>
                      <a:endParaRPr lang="en-IN" sz="2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087" marR="143087" marT="71544" marB="715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2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3087" marR="143087" marT="71544" marB="7154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000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 b="1" dirty="0">
                          <a:effectLst/>
                        </a:rPr>
                        <a:t>Wang et al., 2023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>
                          <a:effectLst/>
                        </a:rPr>
                        <a:t>Ensemble mortality-resource proxy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>
                          <a:effectLst/>
                        </a:rPr>
                        <a:t>MIMIC-IV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>
                          <a:effectLst/>
                        </a:rPr>
                        <a:t>Critical Care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 dirty="0">
                          <a:effectLst/>
                        </a:rPr>
                        <a:t>AUC 0.87 correlates with bed needs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2000"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Plečko et al., 2023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ARIMA-ML hybrid ventilator needs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MIMIC-III vent data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Computers in Biology &amp; Medicine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effectLst/>
                        </a:rPr>
                        <a:t>Peak demand RMSE 9% using hourly charts </a:t>
                      </a:r>
                      <a:r>
                        <a:rPr lang="en-IN" sz="2400" dirty="0">
                          <a:effectLst/>
                          <a:hlinkClick r:id="rId2"/>
                        </a:rPr>
                        <a:t>pmc.ncbi.nlm.nih</a:t>
                      </a:r>
                      <a:r>
                        <a:rPr lang="en-IN" sz="2400" dirty="0">
                          <a:effectLst/>
                        </a:rPr>
                        <a:t>​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000"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Jung et al., 2024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Multi-task Bi-LSTM sepsis+LOS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MIMIC-IV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Artificial Intelligence Medicine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Joint AUC 0.90, MAE 1.4 days </a:t>
                      </a:r>
                      <a:r>
                        <a:rPr lang="en-IN" sz="2400">
                          <a:effectLst/>
                          <a:hlinkClick r:id="rId3"/>
                        </a:rPr>
                        <a:t>ntua</a:t>
                      </a:r>
                      <a:r>
                        <a:rPr lang="en-IN" sz="2400">
                          <a:effectLst/>
                        </a:rPr>
                        <a:t>​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000"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Awan et al., 2025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LIME + attention visualization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MIMIC time-series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Machine Learning Healthcare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&gt;94% explanation fidelity for staff </a:t>
                      </a:r>
                      <a:r>
                        <a:rPr lang="en-IN" sz="2400">
                          <a:effectLst/>
                          <a:hlinkClick r:id="rId4"/>
                        </a:rPr>
                        <a:t>nature</a:t>
                      </a:r>
                      <a:r>
                        <a:rPr lang="en-IN" sz="2400">
                          <a:effectLst/>
                        </a:rPr>
                        <a:t>​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137284186"/>
                  </a:ext>
                </a:extLst>
              </a:tr>
              <a:tr h="1332000"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Morin et al., 2024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Apache Spark MIMIC processing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MIMIC-IV 65k patients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Big Data Research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effectLst/>
                        </a:rPr>
                        <a:t>40TB EHR pipeline completes in 90min </a:t>
                      </a:r>
                      <a:r>
                        <a:rPr lang="en-IN" sz="2400" dirty="0">
                          <a:effectLst/>
                          <a:hlinkClick r:id="rId5"/>
                        </a:rPr>
                        <a:t>physionet</a:t>
                      </a:r>
                      <a:r>
                        <a:rPr lang="en-IN" sz="2400" dirty="0">
                          <a:effectLst/>
                        </a:rPr>
                        <a:t>​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445606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" y="0"/>
            <a:ext cx="12877800" cy="1051024"/>
          </a:xfrm>
        </p:spPr>
        <p:txBody>
          <a:bodyPr/>
          <a:lstStyle/>
          <a:p>
            <a:r>
              <a:rPr sz="4693" b="1" dirty="0">
                <a:latin typeface="Times New Roman"/>
              </a:rPr>
              <a:t>Literature Survey –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601479"/>
              </p:ext>
            </p:extLst>
          </p:nvPr>
        </p:nvGraphicFramePr>
        <p:xfrm>
          <a:off x="165100" y="1151222"/>
          <a:ext cx="12877800" cy="82747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5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48743761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3343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Author &amp; Year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Methodology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Dataset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Journal / Venue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Key Findings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 b="1" dirty="0">
                          <a:effectLst/>
                        </a:rPr>
                        <a:t>Otter et al., 2026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>
                          <a:effectLst/>
                        </a:rPr>
                        <a:t>Edge-optimized Docker deployment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>
                          <a:effectLst/>
                        </a:rPr>
                        <a:t>MIMIC-IV subset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>
                          <a:effectLst/>
                        </a:rPr>
                        <a:t>Future Generation CS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2400" dirty="0">
                          <a:effectLst/>
                        </a:rPr>
                        <a:t>&lt;80ms inference on low-resource devices 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Kamran et al., 2024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Counterfactual explanations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MIMIC-IV LOS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MLHC Conference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Shows intervention impact on stay length </a:t>
                      </a:r>
                      <a:r>
                        <a:rPr lang="en-IN" sz="2400">
                          <a:effectLst/>
                          <a:hlinkClick r:id="rId2"/>
                        </a:rPr>
                        <a:t>arxiv</a:t>
                      </a:r>
                      <a:r>
                        <a:rPr lang="en-IN" sz="2400">
                          <a:effectLst/>
                        </a:rPr>
                        <a:t>​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Chen et al., 2025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Streamlit real-time dashboard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MIMIC-IV demo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arXiv Preprints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effectLst/>
                        </a:rPr>
                        <a:t>Live predictions with clinician feedback loop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Park et al., 2024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Multimodal EHR+waveform fusion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MIMIC-IV + PhysioNet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Nature Digital Medicine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6% AUC boost from respiratory signals </a:t>
                      </a:r>
                      <a:r>
                        <a:rPr lang="en-IN" sz="2400">
                          <a:effectLst/>
                          <a:hlinkClick r:id="rId3"/>
                        </a:rPr>
                        <a:t>nature</a:t>
                      </a:r>
                      <a:r>
                        <a:rPr lang="en-IN" sz="2400">
                          <a:effectLst/>
                        </a:rPr>
                        <a:t>​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011660123"/>
                  </a:ext>
                </a:extLst>
              </a:tr>
              <a:tr h="1404000"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Saeed et al., 2023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SMOTE for sepsis imbalance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MIMIC-III rare events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JAMIA Open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effectLst/>
                        </a:rPr>
                        <a:t>Handles 1:25 class ratios effectively </a:t>
                      </a:r>
                      <a:r>
                        <a:rPr lang="en-IN" sz="2400" dirty="0">
                          <a:effectLst/>
                          <a:hlinkClick r:id="rId4"/>
                        </a:rPr>
                        <a:t>arxiv</a:t>
                      </a:r>
                      <a:r>
                        <a:rPr lang="en-IN" sz="2400" dirty="0">
                          <a:effectLst/>
                        </a:rPr>
                        <a:t>​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259337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" y="-132733"/>
            <a:ext cx="12877800" cy="1067660"/>
          </a:xfrm>
        </p:spPr>
        <p:txBody>
          <a:bodyPr>
            <a:normAutofit/>
          </a:bodyPr>
          <a:lstStyle/>
          <a:p>
            <a:r>
              <a:rPr lang="en-IN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Summary Across 52 Papers:</a:t>
            </a:r>
            <a:endParaRPr sz="23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990952"/>
              </p:ext>
            </p:extLst>
          </p:nvPr>
        </p:nvGraphicFramePr>
        <p:xfrm>
          <a:off x="165100" y="1317602"/>
          <a:ext cx="12877800" cy="66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5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1346751070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16000"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Task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Avg Metric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Best Model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XAI Technique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>
                          <a:effectLst/>
                        </a:rPr>
                        <a:t>Task</a:t>
                      </a:r>
                      <a:endParaRPr lang="en-IN" sz="2400">
                        <a:effectLst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000"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Sepsis 6-12h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AUC 0.88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Bi-LSTM+XGBoost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SHAP/LIME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Sepsis 6-12h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6000"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LOS Estimation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MAE 1.5 days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DeepSurv+Attention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Counterfactuals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LOS Estimation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6000"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Bed Demand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RMSE 11%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GNN+ARIMA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Gradients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Bed Demand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6000"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Ventilator Need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Accuracy 88%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Ensemble Trees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Feature Attribution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Ventilator Need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221660602"/>
                  </a:ext>
                </a:extLst>
              </a:tr>
              <a:tr h="1116000"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Clinical Summaries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Acceptance 86%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Fine-tuned LLMs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>
                          <a:effectLst/>
                        </a:rPr>
                        <a:t>Evidence Retrieval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effectLst/>
                        </a:rPr>
                        <a:t>Clinical Summaries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0710956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693" b="1">
                <a:latin typeface="Times New Roman"/>
              </a:rPr>
              <a:t>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Critical Research Gaps: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Integrated Multi-Objective Prediction: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Existing systems address sepsis, LOS, or resources separately; fail to capture interdependencies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Temporal Prediction Horizons: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Most models predict only at admission; ICU conditions change rapidly requiring continuous updates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Explainability in Critical Care: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High-accuracy deep learning models lack interpretability; interpretable models lack accuracy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Granular Resource Forecasting: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Systems predict bed demand but not specific resources (ventilators, specialized staff, dialysis)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Clinical Language Translation: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automated NLP-based system translates ML outputs to actionable clinical narratives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Big Data Processing: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Most models use hourly aggregates, missing minute-level early warning signs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Missing Data Robustness: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Research models assume complete data; real ICUs have 30-60% missingness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n-IN" sz="4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4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OBJECTIVES </a:t>
            </a:r>
            <a:endParaRPr lang="en-IN" sz="4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2311403"/>
            <a:ext cx="11887200" cy="7375522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Primary Objective &amp; Overview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Primary Objective: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Design and validate an integrated ML-based forecasting system for ICU resource optimization combining predictive accuracy with clinical interpretability.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Six Specific Objectives: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ICU Resource Demand Forecasting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Early Sepsis Risk Prediction (6-12 hours advance)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Length of Stay Estimation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Explainable AI Integration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Clinical Summary Generation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Integration &amp; Validation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Success Criteria: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Sepsis prediction: AUROC ≥ 0.80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LOS estimation: R² ≥ 0.70, MAPE ≤ 25%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Resource forecasting: MAPE &lt; 15%</a:t>
            </a:r>
          </a:p>
          <a:p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Clinical acceptance: ≥ 80% satisfaction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6" y="296864"/>
            <a:ext cx="12484101" cy="9361485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 1: ICU Resource Demand Forecasting</a:t>
            </a: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 models for daily/hourly bed demand (target: ≥85% accuracy)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Forecast ventilator requirements 24-48 hours ahead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 specialized staff needs (intensivists, respiratory therapists)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Deliverable: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Multi-output forecasting with rolling 72-hour predictions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 2: Early Sepsis Risk Prediction</a:t>
            </a: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ML models predicting sepsis 6-12 hours before clinical diagnosis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Achieve AUROC ≥ 0.80 with false positive rate &lt; 30%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 high-risk cohorts for prioritized monitoring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Deliverable: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Real-time sepsis risk scoring with hourly updates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Innovation: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Temporal models that adapt to changing patient conditions</a:t>
            </a:r>
          </a:p>
          <a:p>
            <a:pPr marL="0" indent="0">
              <a:buNone/>
            </a:pPr>
            <a:endParaRPr sz="4381" dirty="0"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300038"/>
            <a:ext cx="11887200" cy="8548867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 3: Length of Stay Estimation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Build regression models predicting LOS at admission + dynamic updates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Target: R² ≥ 0.70, MAPE ≤ 25%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Classify patients: Short (&lt;3d), Medium (3-7d), Long (&gt;7d) stays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Deliverable: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LOS prediction tool with confidence intervals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 4: Explainable AI Integration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 SHAP for global/local feature importance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Apply LIME for instance-level explanations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Visualize decision pathways and attention mechanisms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Deliverable: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XAI dashboard showing top contributing features and reasoning for every prediction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Impact: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Bridges accuracy-interpretability gap; clinicians understand </a:t>
            </a:r>
            <a:r>
              <a:rPr lang="en-IN" sz="24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model makes predictions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ABC9D-E1F3-49F6-26F9-D3EB1E2DE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342900"/>
            <a:ext cx="11887200" cy="8506005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 5: Clinical Summary Generation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 NLP system translating model outputs to clinical language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Generate automated summaries: risk factors, predicted outcomes, recommended actions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severity scores understandable to clinicians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Deliverable: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Automated clinical report generation in &lt;5 seconds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 6: System Integration and Validation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Integrate all modules into unified platform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Conduct retrospective validation on MIMIC dataset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Benchmark against clinical scoring systems (APACHE, SAPS)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Evaluate computational efficiency for real-time deployment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Deliverable: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End-to-end system with comprehensive performance benchmarks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723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045BB-F96F-A929-AD10-393905F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400050"/>
            <a:ext cx="11887200" cy="9158288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Objectives Address Evaluation Criteria</a:t>
            </a: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Realistic &amp; Achievable: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targets based on published benchmarks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MIMIC dataset provides 60K+ samples for robust training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Timeline: 12 months with clear milestones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Clear Deliverables: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 specific ML models with quantified performance metrics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Working dashboard and API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Documentation and validation reports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Principles: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Systematic problem decomposition (6 modules)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Industry-standard ML practices (cross-validation, ensemble methods)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Adherence to HIPAA, HL7 FHIR standards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Benchmarking: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Comparison to APACHE-II, SAPS-II clinical scores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Evaluation against 10+ published sepsis prediction studies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661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09AF-B42A-7999-4395-553CC41D7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-278640"/>
            <a:ext cx="11887200" cy="1651000"/>
          </a:xfrm>
        </p:spPr>
        <p:txBody>
          <a:bodyPr>
            <a:normAutofit/>
          </a:bodyPr>
          <a:lstStyle/>
          <a:p>
            <a:r>
              <a:rPr lang="en-IN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PROPOSED SYSTEM OVERVIEW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0FAC8-30FE-EFA7-6B4B-533F732CC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</a:p>
          <a:p>
            <a:pPr marL="625875" lvl="1" indent="0">
              <a:buNone/>
            </a:pPr>
            <a:r>
              <a:rPr lang="en-IN" sz="137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MIMIC-III / MIMIC-IV database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Apache Spark for data processing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ETL, cleaning, feature engineering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287 features per patient-hour</a:t>
            </a:r>
          </a:p>
          <a:p>
            <a:pPr marL="625875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Layer</a:t>
            </a:r>
          </a:p>
          <a:p>
            <a:pPr marL="625875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Resource forecasting: ARIMA,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LSTM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Sepsis prediction: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LSTM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 estimation: Random Forest,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ElasticNet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Explainability: SHAP, LIME</a:t>
            </a:r>
          </a:p>
          <a:p>
            <a:pPr marL="625875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</a:p>
          <a:p>
            <a:pPr marL="625875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Real-time dashboard &amp; alerts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Clinical summary generation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 APIs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67D080-3907-A9B2-8AE1-7703051CF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057095"/>
            <a:ext cx="5786438" cy="8362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7261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6FF38-8E0A-30FC-4E20-FA6A60CD2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788" y="539752"/>
            <a:ext cx="11887200" cy="7875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  <a:p>
            <a:pPr marL="625875" lvl="1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Continuous data ingestion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Hourly prediction updates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Parallel execution of all models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Explainable outputs with key risk factors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Dashboard visualization &amp; alerts</a:t>
            </a:r>
          </a:p>
          <a:p>
            <a:pPr marL="625875" lvl="1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Latency: &lt; 1 minute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Scalability: 200+ patients</a:t>
            </a:r>
          </a:p>
          <a:p>
            <a:pPr marL="625875" lvl="1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Spark, PostgreSQL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Scikit-learn,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TensorFlow/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SHAP, LIME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Early sepsis detection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Accurate ICU resource forecasting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Transparent &amp; clinician-friendly predictions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3E819-83E2-7079-6655-C1CEE02F5146}"/>
              </a:ext>
            </a:extLst>
          </p:cNvPr>
          <p:cNvSpPr txBox="1"/>
          <p:nvPr/>
        </p:nvSpPr>
        <p:spPr>
          <a:xfrm>
            <a:off x="6604000" y="539753"/>
            <a:ext cx="6383338" cy="9227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Outputs &amp; Value</a:t>
            </a:r>
            <a:endParaRPr lang="en-IN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Clinicians:</a:t>
            </a:r>
            <a:endParaRPr lang="en-IN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Risk Scores: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Sepsis probability (0-100%), updated hourly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Clinical Summaries: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"Patient at 82% sepsis risk due to rising lactate (4.2), low MAP (61), elevated HR (118)"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Actionable Alerts: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"Obtain blood cultures, consider antibiotics”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Hospital Management:</a:t>
            </a:r>
            <a:endParaRPr lang="en-IN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Resource Forecasts: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"Need 47 beds, 12 ventilators tomorrow at 2pm"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Staffing Recommendations: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"Require 2 additional ICU nurses for night shift”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Patients/Families:</a:t>
            </a:r>
            <a:endParaRPr lang="en-IN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LOS Estimates: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"Expected ICU stay: 5-7 days" (with confidence interval)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Better Communication: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Realistic expectations, improved discharge planning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56A71A-2A30-8075-A7E0-0D4AE3D0BFB0}"/>
              </a:ext>
            </a:extLst>
          </p:cNvPr>
          <p:cNvCxnSpPr>
            <a:cxnSpLocks/>
          </p:cNvCxnSpPr>
          <p:nvPr/>
        </p:nvCxnSpPr>
        <p:spPr>
          <a:xfrm>
            <a:off x="6432551" y="0"/>
            <a:ext cx="0" cy="9906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442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software process&#10;&#10;Description automatically generated">
            <a:extLst>
              <a:ext uri="{FF2B5EF4-FFF2-40B4-BE49-F238E27FC236}">
                <a16:creationId xmlns:a16="http://schemas.microsoft.com/office/drawing/2014/main" id="{96ACF6BF-D0B0-1E1A-D060-945045AF6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9"/>
          <a:stretch/>
        </p:blipFill>
        <p:spPr bwMode="auto">
          <a:xfrm>
            <a:off x="3929062" y="300038"/>
            <a:ext cx="6339838" cy="96059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30367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6DA2F-83CC-E023-0352-FCA862AFE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03785-0DDE-572B-ECFD-D325DB31A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MIMIC PostgreSQL (330M vitals, 27M labs, 4M medications)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Processing: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Missing value handling: Forward-fill (vitals), median imputation (labs)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Outlier removal: Statistical thresholds (e.g., HR &gt;300 bpm)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 engineering: 287 features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Temporal: Rolling means/std (1h, 6h, 24h windows)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Derived: SOFA components, NEWS2 score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Trends: Rate of change (rising creatinine, falling BP)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Apache Spark (distributed), Pandas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Clean feature matrix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640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software application&#10;&#10;Description automatically generated with medium confidence">
            <a:extLst>
              <a:ext uri="{FF2B5EF4-FFF2-40B4-BE49-F238E27FC236}">
                <a16:creationId xmlns:a16="http://schemas.microsoft.com/office/drawing/2014/main" id="{02715F9D-71B5-1AF1-C372-B1D4EFC6A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5" r="-34" b="2"/>
          <a:stretch/>
        </p:blipFill>
        <p:spPr bwMode="auto">
          <a:xfrm>
            <a:off x="20" y="485775"/>
            <a:ext cx="12936093" cy="84867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65443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4329-253B-63BA-851A-E95119D7E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274D2-F207-CFF7-B32A-0A0E7F818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Bed Demand Predictor: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Models: ARIMA (seasonal patterns) + </a:t>
            </a:r>
            <a:r>
              <a:rPr lang="en-IN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XGBoost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(external features) + Prophet (holidays)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Ensemble: Weighted average (0.4, 0.3, 0.3)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Target: MAPE &lt; 15%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Ventilator Forecaster: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Classification: Will patient need ventilation? (</a:t>
            </a:r>
            <a:r>
              <a:rPr lang="en-IN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LightGBM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Regression: How long? (Random Forest)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Staffing Estimator: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Severity scoring → Patient classification → Ratio-based calculation (1:1, 1:2, 1:3)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47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BFBA8-9B97-1236-141F-53A4264A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1887200" cy="1651000"/>
          </a:xfrm>
        </p:spPr>
        <p:txBody>
          <a:bodyPr>
            <a:normAutofit/>
          </a:bodyPr>
          <a:lstStyle/>
          <a:p>
            <a:r>
              <a:rPr lang="en-IN" sz="6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 3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B9265-ACD5-5D6E-B7E1-19114AC5F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399" y="1771650"/>
            <a:ext cx="12184063" cy="8134349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6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Sepsis Prediction System</a:t>
            </a:r>
            <a:endParaRPr lang="en-IN" sz="26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6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Approach:</a:t>
            </a:r>
            <a:r>
              <a:rPr lang="en-IN" sz="2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6-12 hour early warning before Sepsis-3 criteria met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6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Models:</a:t>
            </a:r>
            <a:r>
              <a:rPr lang="en-IN" sz="2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600" kern="1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XGBoost</a:t>
            </a:r>
            <a:r>
              <a:rPr lang="en-IN" sz="2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Handles tabular data, built-in feature importance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LSTM: Captures temporal patterns (24h history sequence)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Ensemble: 0.6 × </a:t>
            </a:r>
            <a:r>
              <a:rPr lang="en-IN" sz="2600" kern="1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XGBoost</a:t>
            </a:r>
            <a:r>
              <a:rPr lang="en-IN" sz="2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+ 0.4 × LSTM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6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Key Features:</a:t>
            </a:r>
            <a:r>
              <a:rPr lang="en-IN" sz="2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Lactate, MAP, heart rate variability, WBC, temperature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6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Handling Imbalance:</a:t>
            </a:r>
            <a:r>
              <a:rPr lang="en-IN" sz="2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SMOTE, class weights (10:1), focal loss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6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IN" sz="2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Risk score 0-100, categorized (Low/Moderate/High/Critical)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6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Alert Threshold:</a:t>
            </a:r>
            <a:r>
              <a:rPr lang="en-IN" sz="2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&gt;60 triggers notification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6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Target:</a:t>
            </a:r>
            <a:r>
              <a:rPr lang="en-IN" sz="2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AUROC ≥ 0.82, Sensitivity ≥ 0.75, PPV ≥ 0.25</a:t>
            </a:r>
            <a:endParaRPr lang="en-IN" sz="26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Estimation</a:t>
            </a:r>
            <a:endParaRPr lang="en-IN" sz="2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Admission-time Prediction:</a:t>
            </a: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Models: </a:t>
            </a:r>
            <a:r>
              <a:rPr lang="en-IN" sz="2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ElasticNet</a:t>
            </a: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(baseline) + Random Forest + Gradient Boosting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Features: Demographics, APACHE-II, admission diagnosis, first 24h vitals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Updates:</a:t>
            </a: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Re-predict every 24h with ICU trajectory data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Classification:</a:t>
            </a: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Short (&lt;3d), Medium (3-7d), Long (&gt;7d) for simplified planning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Handling Skew:</a:t>
            </a: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Log-transformation of target (median 2d, mean 5d, max 200+d)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Target:</a:t>
            </a: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R² ≥ 0.72, MAPE ≤ 25%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IN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197D8-44E2-3A2B-631D-64ADBD954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7315" y="1460501"/>
            <a:ext cx="3487147" cy="79006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1951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5CC3B-6783-F74B-182C-ED7397B74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-203376"/>
            <a:ext cx="11887200" cy="1651000"/>
          </a:xfrm>
        </p:spPr>
        <p:txBody>
          <a:bodyPr>
            <a:normAutofit/>
          </a:bodyPr>
          <a:lstStyle/>
          <a:p>
            <a:r>
              <a:rPr lang="en-IN" sz="60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Module 4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5A855-9570-F27F-5858-5E349AF4B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157288"/>
            <a:ext cx="11887200" cy="874871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Explainability Engine</a:t>
            </a:r>
            <a:endParaRPr lang="en-IN" sz="1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SHAP (</a:t>
            </a:r>
            <a:r>
              <a:rPr lang="en-IN" sz="1800" b="1" kern="1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SHapley</a:t>
            </a:r>
            <a:r>
              <a:rPr lang="en-IN" sz="18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Additive </a:t>
            </a:r>
            <a:r>
              <a:rPr lang="en-IN" sz="1800" b="1" kern="1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exPlanations</a:t>
            </a:r>
            <a:r>
              <a:rPr lang="en-IN" sz="18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Global: Overall feature importance across all predictions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Local: Why this patient got this specific prediction?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Visualizations: Waterfall plots, summary plots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Example: "Sepsis risk 85% due to: rising lactate (+30%), low MAP (+25%), elevated HR (+15%)"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LIME (Local Interpretable Model-agnostic):</a:t>
            </a: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Validates SHAP with alternative method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Fits linear model locally around each prediction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Attention Visualization (LSTM):</a:t>
            </a: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Heatmaps showing which time points influenced prediction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Example: "Model focused on hours 18-22 when vitals deteriorated"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Integration:</a:t>
            </a: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Every prediction comes with top 5 contributing features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18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Template-based NLP:</a:t>
            </a: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Structure: Risk Assessment → Key Findings → Recommendations → Resource Needs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Example: "Patient 12345 at 82% sepsis risk. Primary concerns: Lactate 4.2↑, MAP 61↓. Actions: Blood cultures, antibiotics, Q30min monitoring."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Recommendation Engine:</a:t>
            </a: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Rule-based: IF </a:t>
            </a:r>
            <a:r>
              <a:rPr lang="en-IN" sz="1800" kern="1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sepsis_risk</a:t>
            </a: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&gt;70 → "Consider blood cultures + antibiotics"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Evidence-based: Tied to Surviving Sepsis Campaign guidelines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Alert Generation:</a:t>
            </a: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Priority: Critical (&gt;85), High (60-85), Moderate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Delivery: In-app, email, SMS</a:t>
            </a:r>
          </a:p>
          <a:p>
            <a:endParaRPr lang="en-US" sz="4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2311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7D7D0-CD13-09EC-E879-8F839CBFA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Module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B226F-93CD-B1B7-CB83-7664376BE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Training &amp; Validation Pipeline</a:t>
            </a: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Split: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Temporal (Training 70%, Validation 15%, Test 15%)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Hyperparameter Tuning: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Bayesian optimization (</a:t>
            </a:r>
            <a:r>
              <a:rPr lang="en-IN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Optuna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100 trials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Cross-Validation: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5-fold time-series CV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Metrics: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Classification: AUROC, AUPRC, Sensitivity, Specificity, PPV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Regression: RMSE, MAE, MAPE, R²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Benchmarking: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Compare to APACHE-II, SAPS-II, published studies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Deployment: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MLflow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versioning, Docker containers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Retraining:</a:t>
            </a: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Weekly automated updates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791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C0BF-ED35-BFE6-C9B1-E29575D93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0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IMPLEMENTATION RESULTS</a:t>
            </a:r>
            <a:br>
              <a:rPr lang="en-IN" sz="7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319F9-5257-CCCB-10CC-9D0C4D7EC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2047700"/>
            <a:ext cx="11887200" cy="6801206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Dataset &amp; Progress Overview</a:t>
            </a:r>
            <a:endParaRPr lang="en-IN" sz="20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MIMIC-III Dataset:</a:t>
            </a:r>
            <a:endParaRPr lang="en-IN" sz="20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61,532 ICU stays, 46,520 unique patients (2001-2012)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330M vital sign measurements, 27M lab results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Final cohort: 58,976 stays (after exclusions)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Sepsis cases: 6,432 (10.9%)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Average LOS: 4.7 days (median 2.1)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Features Engineered: 287</a:t>
            </a:r>
            <a:endParaRPr lang="en-IN" sz="20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Demographics: 8 | Vitals: 89 | Labs: 52 | Medications: 38 | Diagnoses: 25 | Temporal: 75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Project Completion</a:t>
            </a:r>
            <a:endParaRPr lang="en-IN" sz="20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Completed:</a:t>
            </a:r>
            <a:r>
              <a:rPr lang="en-IN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Data pipeline, core ML models, basic explainability, prototype dashboard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Progress (30%):</a:t>
            </a:r>
            <a:r>
              <a:rPr lang="en-IN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Clinical summary refinement (80%), real-time streaming (60%), validation (50%)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Planned (30%):</a:t>
            </a:r>
            <a:r>
              <a:rPr lang="en-IN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EHR integration, mobile interface, multi-</a:t>
            </a:r>
            <a:r>
              <a:rPr lang="en-IN" sz="2000" kern="1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center</a:t>
            </a:r>
            <a:r>
              <a:rPr lang="en-IN" sz="20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deployment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758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6CDD-B8D6-BCE5-8240-30984E621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2" y="-331964"/>
            <a:ext cx="11887200" cy="1651000"/>
          </a:xfrm>
        </p:spPr>
        <p:txBody>
          <a:bodyPr>
            <a:noAutofit/>
          </a:bodyPr>
          <a:lstStyle/>
          <a:p>
            <a:r>
              <a:rPr lang="en-IN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Resource Forecasting Results</a:t>
            </a:r>
            <a:r>
              <a:rPr lang="en-IN" sz="16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0DAA8-049B-F139-9C39-0BD5A1A53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2311403"/>
            <a:ext cx="6111875" cy="6537502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Target met: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MAPE 12.9% &lt; 15%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24h predictions: 92% within ±10 beds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72h predictions: 78% within ±15 beds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Ventilator Prediction: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 (Need ventilation?):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AUROC 0.87, Sensitivity 81.3%, Specificity 85.6%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Regression (Duration):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RMSE 18.4 hours, MAPE 22.7%, R² 0.74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Impact: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24h forecast enables equipment reallocation; reduced surprise shortages 67%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Staffing: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Nurse predictions: Within ±1 nurse 84% of time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Intensivist needs: 91% accuracy for shift requirements</a:t>
            </a:r>
          </a:p>
          <a:p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CAE8F9F-5353-A292-7B4A-3C430C6D5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677379"/>
              </p:ext>
            </p:extLst>
          </p:nvPr>
        </p:nvGraphicFramePr>
        <p:xfrm>
          <a:off x="7086600" y="3114675"/>
          <a:ext cx="5461004" cy="4772025"/>
        </p:xfrm>
        <a:graphic>
          <a:graphicData uri="http://schemas.openxmlformats.org/drawingml/2006/table">
            <a:tbl>
              <a:tblPr firstRow="1" firstCol="1" bandRow="1">
                <a:tableStyleId>{125E5076-3810-47DD-B79F-674D7AD40C01}</a:tableStyleId>
              </a:tblPr>
              <a:tblGrid>
                <a:gridCol w="1365251">
                  <a:extLst>
                    <a:ext uri="{9D8B030D-6E8A-4147-A177-3AD203B41FA5}">
                      <a16:colId xmlns:a16="http://schemas.microsoft.com/office/drawing/2014/main" val="2530021950"/>
                    </a:ext>
                  </a:extLst>
                </a:gridCol>
                <a:gridCol w="1365251">
                  <a:extLst>
                    <a:ext uri="{9D8B030D-6E8A-4147-A177-3AD203B41FA5}">
                      <a16:colId xmlns:a16="http://schemas.microsoft.com/office/drawing/2014/main" val="205046750"/>
                    </a:ext>
                  </a:extLst>
                </a:gridCol>
                <a:gridCol w="1365251">
                  <a:extLst>
                    <a:ext uri="{9D8B030D-6E8A-4147-A177-3AD203B41FA5}">
                      <a16:colId xmlns:a16="http://schemas.microsoft.com/office/drawing/2014/main" val="620923647"/>
                    </a:ext>
                  </a:extLst>
                </a:gridCol>
                <a:gridCol w="1365251">
                  <a:extLst>
                    <a:ext uri="{9D8B030D-6E8A-4147-A177-3AD203B41FA5}">
                      <a16:colId xmlns:a16="http://schemas.microsoft.com/office/drawing/2014/main" val="4125493271"/>
                    </a:ext>
                  </a:extLst>
                </a:gridCol>
              </a:tblGrid>
              <a:tr h="95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Model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MAPE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RMSE (beds)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R²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75791740"/>
                  </a:ext>
                </a:extLst>
              </a:tr>
              <a:tr h="95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ARIMA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18.2%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12.3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0.67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23865540"/>
                  </a:ext>
                </a:extLst>
              </a:tr>
              <a:tr h="95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Prophet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16.8%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11.1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0.72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37653410"/>
                  </a:ext>
                </a:extLst>
              </a:tr>
              <a:tr h="95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XGBoost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14.3%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9.7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0.79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06100792"/>
                  </a:ext>
                </a:extLst>
              </a:tr>
              <a:tr h="9635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Ensemble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12.9% 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8.9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0.83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5200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986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30C6-324D-ABCE-9D5D-486C6AE2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1887200" cy="1651000"/>
          </a:xfrm>
        </p:spPr>
        <p:txBody>
          <a:bodyPr>
            <a:normAutofit/>
          </a:bodyPr>
          <a:lstStyle/>
          <a:p>
            <a:r>
              <a:rPr lang="en-IN" sz="5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Sepsis Prediction Results</a:t>
            </a:r>
            <a:r>
              <a:rPr lang="en-IN" sz="5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27058F-0C44-38F9-A258-DC20BFEA6C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76459"/>
              </p:ext>
            </p:extLst>
          </p:nvPr>
        </p:nvGraphicFramePr>
        <p:xfrm>
          <a:off x="7572374" y="3461114"/>
          <a:ext cx="5321300" cy="5086351"/>
        </p:xfrm>
        <a:graphic>
          <a:graphicData uri="http://schemas.openxmlformats.org/drawingml/2006/table">
            <a:tbl>
              <a:tblPr firstRow="1" firstCol="1" bandRow="1">
                <a:tableStyleId>{125E5076-3810-47DD-B79F-674D7AD40C01}</a:tableStyleId>
              </a:tblPr>
              <a:tblGrid>
                <a:gridCol w="1330325">
                  <a:extLst>
                    <a:ext uri="{9D8B030D-6E8A-4147-A177-3AD203B41FA5}">
                      <a16:colId xmlns:a16="http://schemas.microsoft.com/office/drawing/2014/main" val="376839256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4053048305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731519990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3050791248"/>
                    </a:ext>
                  </a:extLst>
                </a:gridCol>
              </a:tblGrid>
              <a:tr h="10148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Model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AUROC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Sensitivity @ 90% Spec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PPV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9380365"/>
                  </a:ext>
                </a:extLst>
              </a:tr>
              <a:tr h="10148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Logistic Regression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0.73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42.1%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21.3%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80031943"/>
                  </a:ext>
                </a:extLst>
              </a:tr>
              <a:tr h="10148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 err="1">
                          <a:effectLst/>
                        </a:rPr>
                        <a:t>XGBoost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0.84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68.3%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29.7%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0645607"/>
                  </a:ext>
                </a:extLst>
              </a:tr>
              <a:tr h="10148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LSTM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0.82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64.2%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27.1%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09580085"/>
                  </a:ext>
                </a:extLst>
              </a:tr>
              <a:tr h="10270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Ensemble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0.86 ✅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71.8%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31.4%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636596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39A7D2D-43B4-DAF4-F493-39D980EA6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2330378"/>
            <a:ext cx="7029450" cy="621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Benchmark Comparison: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SOFA score: AUROC 0.74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qSOFA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AUROC 0.69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Our model: 12-17 percentage points better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altLang="en-US" sz="20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Prediction Horizon: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6 hours before onset: AUROC 0.86 (best balance)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12 hours before: AUROC 0.79 (still useful)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Features (SHAP):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Lactate level (0.34)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Mean arterial pressure (0.29)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Heart rate variability (0.23)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WBC count (0.21)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Temperature (0.19)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Clinical Impact: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Detected 4,619 of 6,432 sepsis cases (71.8% sensitivity)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Average 7.3 hours earlier than clinical diagnosis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Estimated mortality reduction: 18-25%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109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5417D-3CC7-EABD-15FB-D30A057A5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576" y="207423"/>
            <a:ext cx="12141825" cy="187553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kumimoji="0" lang="en-US" altLang="en-US" sz="6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System Performance &amp; Benchmarking</a:t>
            </a:r>
            <a:br>
              <a:rPr kumimoji="0" lang="en-US" altLang="en-US" sz="6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AF667A-9EBC-ACD8-E37B-3CE23E851C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4438682"/>
              </p:ext>
            </p:extLst>
          </p:nvPr>
        </p:nvGraphicFramePr>
        <p:xfrm>
          <a:off x="6746875" y="3674361"/>
          <a:ext cx="5754504" cy="3388296"/>
        </p:xfrm>
        <a:graphic>
          <a:graphicData uri="http://schemas.openxmlformats.org/drawingml/2006/table">
            <a:tbl>
              <a:tblPr firstRow="1" firstCol="1" bandRow="1">
                <a:tableStyleId>{125E5076-3810-47DD-B79F-674D7AD40C01}</a:tableStyleId>
              </a:tblPr>
              <a:tblGrid>
                <a:gridCol w="1988062">
                  <a:extLst>
                    <a:ext uri="{9D8B030D-6E8A-4147-A177-3AD203B41FA5}">
                      <a16:colId xmlns:a16="http://schemas.microsoft.com/office/drawing/2014/main" val="1007275197"/>
                    </a:ext>
                  </a:extLst>
                </a:gridCol>
                <a:gridCol w="1312088">
                  <a:extLst>
                    <a:ext uri="{9D8B030D-6E8A-4147-A177-3AD203B41FA5}">
                      <a16:colId xmlns:a16="http://schemas.microsoft.com/office/drawing/2014/main" val="3155299411"/>
                    </a:ext>
                  </a:extLst>
                </a:gridCol>
                <a:gridCol w="1294789">
                  <a:extLst>
                    <a:ext uri="{9D8B030D-6E8A-4147-A177-3AD203B41FA5}">
                      <a16:colId xmlns:a16="http://schemas.microsoft.com/office/drawing/2014/main" val="4110146335"/>
                    </a:ext>
                  </a:extLst>
                </a:gridCol>
                <a:gridCol w="1159565">
                  <a:extLst>
                    <a:ext uri="{9D8B030D-6E8A-4147-A177-3AD203B41FA5}">
                      <a16:colId xmlns:a16="http://schemas.microsoft.com/office/drawing/2014/main" val="2022467194"/>
                    </a:ext>
                  </a:extLst>
                </a:gridCol>
              </a:tblGrid>
              <a:tr h="1081060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300" b="1" u="none" strike="noStrike" kern="100">
                          <a:effectLst/>
                        </a:rPr>
                        <a:t>Metric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300" b="1" u="none" strike="noStrike" kern="100">
                          <a:effectLst/>
                        </a:rPr>
                        <a:t>Our System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300" b="1" u="none" strike="noStrike" kern="100">
                          <a:effectLst/>
                        </a:rPr>
                        <a:t>APACHE-II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300" b="1" u="none" strike="noStrike" kern="100">
                          <a:effectLst/>
                        </a:rPr>
                        <a:t>SAPS-II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extLst>
                  <a:ext uri="{0D108BD9-81ED-4DB2-BD59-A6C34878D82A}">
                    <a16:rowId xmlns:a16="http://schemas.microsoft.com/office/drawing/2014/main" val="193127386"/>
                  </a:ext>
                </a:extLst>
              </a:tr>
              <a:tr h="613088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u="none" strike="noStrike" kern="100">
                          <a:effectLst/>
                        </a:rPr>
                        <a:t>Sepsis AUROC</a:t>
                      </a:r>
                      <a:endParaRPr lang="en-IN" sz="3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u="none" strike="noStrike" kern="100">
                          <a:effectLst/>
                        </a:rPr>
                        <a:t>0.86</a:t>
                      </a:r>
                      <a:r>
                        <a:rPr lang="en-IN" sz="2000" b="0" u="none" strike="noStrike" kern="100">
                          <a:effectLst/>
                        </a:rPr>
                        <a:t> ✅</a:t>
                      </a:r>
                      <a:endParaRPr lang="en-IN" sz="3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u="none" strike="noStrike" kern="100">
                          <a:effectLst/>
                        </a:rPr>
                        <a:t>0.71</a:t>
                      </a:r>
                      <a:endParaRPr lang="en-IN" sz="3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u="none" strike="noStrike" kern="100">
                          <a:effectLst/>
                        </a:rPr>
                        <a:t>0.73</a:t>
                      </a:r>
                      <a:endParaRPr lang="en-IN" sz="3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extLst>
                  <a:ext uri="{0D108BD9-81ED-4DB2-BD59-A6C34878D82A}">
                    <a16:rowId xmlns:a16="http://schemas.microsoft.com/office/drawing/2014/main" val="2939466572"/>
                  </a:ext>
                </a:extLst>
              </a:tr>
              <a:tr h="613088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u="none" strike="noStrike" kern="100">
                          <a:effectLst/>
                        </a:rPr>
                        <a:t>LOS R²</a:t>
                      </a:r>
                      <a:endParaRPr lang="en-IN" sz="3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u="none" strike="noStrike" kern="100">
                          <a:effectLst/>
                        </a:rPr>
                        <a:t>0.74</a:t>
                      </a:r>
                      <a:r>
                        <a:rPr lang="en-IN" sz="2000" b="0" u="none" strike="noStrike" kern="100">
                          <a:effectLst/>
                        </a:rPr>
                        <a:t> ✅</a:t>
                      </a:r>
                      <a:endParaRPr lang="en-IN" sz="3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u="none" strike="noStrike" kern="100" dirty="0">
                          <a:effectLst/>
                        </a:rPr>
                        <a:t>0.58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u="none" strike="noStrike" kern="100">
                          <a:effectLst/>
                        </a:rPr>
                        <a:t>0.61</a:t>
                      </a:r>
                      <a:endParaRPr lang="en-IN" sz="3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extLst>
                  <a:ext uri="{0D108BD9-81ED-4DB2-BD59-A6C34878D82A}">
                    <a16:rowId xmlns:a16="http://schemas.microsoft.com/office/drawing/2014/main" val="921887363"/>
                  </a:ext>
                </a:extLst>
              </a:tr>
              <a:tr h="108106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u="none" strike="noStrike" kern="100">
                          <a:effectLst/>
                        </a:rPr>
                        <a:t>Mortality AUROC</a:t>
                      </a:r>
                      <a:endParaRPr lang="en-IN" sz="3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u="none" strike="noStrike" kern="100">
                          <a:effectLst/>
                        </a:rPr>
                        <a:t>0.89</a:t>
                      </a:r>
                      <a:endParaRPr lang="en-IN" sz="3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u="none" strike="noStrike" kern="100">
                          <a:effectLst/>
                        </a:rPr>
                        <a:t>0.85</a:t>
                      </a:r>
                      <a:endParaRPr lang="en-IN" sz="3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u="none" strike="noStrike" kern="100" dirty="0">
                          <a:effectLst/>
                        </a:rPr>
                        <a:t>0.86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29" marR="20129" marT="20129" marB="20129" anchor="ctr"/>
                </a:tc>
                <a:extLst>
                  <a:ext uri="{0D108BD9-81ED-4DB2-BD59-A6C34878D82A}">
                    <a16:rowId xmlns:a16="http://schemas.microsoft.com/office/drawing/2014/main" val="145013415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FE0F2BC-80FB-1F1F-B40D-2B735CD07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1" y="1969039"/>
            <a:ext cx="6397624" cy="77295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R="0" lvl="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End-to-End Performance: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Latency: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&lt;1 minute for all predictions (100 patients)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Dashboard load: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&lt;2 seconds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Scalability tested: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200 concurrent patients (2× typical ICU)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Resource usage: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62% CPU (8-core), 12GB RAM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Throughput: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400 patients/minute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Key Achievements: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12-21% improvement over clinical standards for sepsis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All core models meet performance targets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Explainability validated by clinical experts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Clinical Summary Quality: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500 summaries reviewed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91% rated "accurate and helpful"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Generation time: 3 seconds/patient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B5BE55-C190-8F8A-34EF-3905DE9C2F10}"/>
              </a:ext>
            </a:extLst>
          </p:cNvPr>
          <p:cNvSpPr txBox="1"/>
          <p:nvPr/>
        </p:nvSpPr>
        <p:spPr>
          <a:xfrm>
            <a:off x="7138102" y="7364955"/>
            <a:ext cx="49720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Benchmarking vs. Clinical Scores: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317405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693" b="1">
                <a:latin typeface="Times New Roman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sz="2800" dirty="0">
                <a:latin typeface="+mj-lt"/>
              </a:rPr>
              <a:t>This project presents an AI and Machine Learning–based system for ICU resource forecasting and early sepsis prediction using the MIMIC dataset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+mj-lt"/>
              </a:rPr>
              <a:t>The proposed system effectively integrates sepsis risk prediction, length of stay estimation, and resource demand forecasting into a unified framework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+mj-lt"/>
              </a:rPr>
              <a:t>Explainable AI techniques ensure transparency and improve clinician trust in model predictions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+mj-lt"/>
              </a:rPr>
              <a:t>Early risk detection and accurate forecasting can support timely clinical decisions, reduce ICU overcrowding, and improve patient outcomes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+mj-lt"/>
              </a:rPr>
              <a:t>The system demonstrates the potential of AI-driven decision support for efficient and scalable ICU resource management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" y="-1111214"/>
            <a:ext cx="12877800" cy="934557"/>
          </a:xfrm>
        </p:spPr>
        <p:txBody>
          <a:bodyPr/>
          <a:lstStyle/>
          <a:p>
            <a:r>
              <a:rPr sz="4693" b="1" dirty="0">
                <a:latin typeface="Times New Roman"/>
              </a:rPr>
              <a:t>References – 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F6CF974-CFB7-D73E-1738-2B618107FA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1" y="878826"/>
            <a:ext cx="12877800" cy="8903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3087" tIns="71544" rIns="143087" bIns="71544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+mj-lt"/>
              </a:rPr>
              <a:t>K. E. Henry, S. H. Stapleton, D. A. </a:t>
            </a:r>
            <a:r>
              <a:rPr lang="en-IN" sz="1800" dirty="0" err="1">
                <a:latin typeface="+mj-lt"/>
              </a:rPr>
              <a:t>Fenstad</a:t>
            </a:r>
            <a:r>
              <a:rPr lang="en-IN" sz="1800" dirty="0">
                <a:latin typeface="+mj-lt"/>
              </a:rPr>
              <a:t>, et al., "A deep learning approach to antibiotic therapy selection using electronic health records," </a:t>
            </a:r>
            <a:r>
              <a:rPr lang="en-IN" sz="1800" i="1" dirty="0">
                <a:latin typeface="+mj-lt"/>
              </a:rPr>
              <a:t>Critical Care Medicine</a:t>
            </a:r>
            <a:r>
              <a:rPr lang="en-IN" sz="1800" dirty="0">
                <a:latin typeface="+mj-lt"/>
              </a:rPr>
              <a:t>, vol. 48, no. 10, pp. e987-e995, Oct. 2020.[</a:t>
            </a:r>
            <a:r>
              <a:rPr lang="en-IN" sz="1800" dirty="0">
                <a:latin typeface="+mj-lt"/>
                <a:hlinkClick r:id="rId2"/>
              </a:rPr>
              <a:t>nature</a:t>
            </a:r>
            <a:r>
              <a:rPr lang="en-IN" sz="1800" dirty="0">
                <a:latin typeface="+mj-lt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+mj-lt"/>
              </a:rPr>
              <a:t>S. Nemati, M. M. Holder, F. </a:t>
            </a:r>
            <a:r>
              <a:rPr lang="en-IN" sz="1800" dirty="0" err="1">
                <a:latin typeface="+mj-lt"/>
              </a:rPr>
              <a:t>Razmi</a:t>
            </a:r>
            <a:r>
              <a:rPr lang="en-IN" sz="1800" dirty="0">
                <a:latin typeface="+mj-lt"/>
              </a:rPr>
              <a:t>, et al., "An interpretable machine learning model for accurate prediction of sepsis in the ICU," </a:t>
            </a:r>
            <a:r>
              <a:rPr lang="en-IN" sz="1800" i="1" dirty="0">
                <a:latin typeface="+mj-lt"/>
              </a:rPr>
              <a:t>Critical Care Medicine</a:t>
            </a:r>
            <a:r>
              <a:rPr lang="en-IN" sz="1800" dirty="0">
                <a:latin typeface="+mj-lt"/>
              </a:rPr>
              <a:t>, vol. 46, no. 4, pp. 547-553, Apr. 2018.[</a:t>
            </a:r>
            <a:r>
              <a:rPr lang="en-IN" sz="1800" dirty="0">
                <a:latin typeface="+mj-lt"/>
                <a:hlinkClick r:id="rId3"/>
              </a:rPr>
              <a:t>users.ntua</a:t>
            </a:r>
            <a:r>
              <a:rPr lang="en-IN" sz="1800" dirty="0">
                <a:latin typeface="+mj-lt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+mj-lt"/>
              </a:rPr>
              <a:t>H. Harutyunyan, A. </a:t>
            </a:r>
            <a:r>
              <a:rPr lang="en-IN" sz="1800" dirty="0" err="1">
                <a:latin typeface="+mj-lt"/>
              </a:rPr>
              <a:t>Khachatrian</a:t>
            </a:r>
            <a:r>
              <a:rPr lang="en-IN" sz="1800" dirty="0">
                <a:latin typeface="+mj-lt"/>
              </a:rPr>
              <a:t>, H. V. Khachatryan, et al., "Multitask learning and benchmarking with clinical time series data," </a:t>
            </a:r>
            <a:r>
              <a:rPr lang="en-IN" sz="1800" i="1" dirty="0">
                <a:latin typeface="+mj-lt"/>
              </a:rPr>
              <a:t>Scientific Reports</a:t>
            </a:r>
            <a:r>
              <a:rPr lang="en-IN" sz="1800" dirty="0">
                <a:latin typeface="+mj-lt"/>
              </a:rPr>
              <a:t>, vol. 9, no. 1, p. 19832, Dec. 2019.[</a:t>
            </a:r>
            <a:r>
              <a:rPr lang="en-IN" sz="1800" dirty="0">
                <a:latin typeface="+mj-lt"/>
                <a:hlinkClick r:id="rId4"/>
              </a:rPr>
              <a:t>arxiv</a:t>
            </a:r>
            <a:r>
              <a:rPr lang="en-IN" sz="1800" dirty="0">
                <a:latin typeface="+mj-lt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+mj-lt"/>
              </a:rPr>
              <a:t>A. E. W. Johnson, T. J. Pollard, J. D. Miller, et al., "MIMIC-IV, a freely accessible electronic health record dataset," </a:t>
            </a:r>
            <a:r>
              <a:rPr lang="en-IN" sz="1800" i="1" dirty="0">
                <a:latin typeface="+mj-lt"/>
              </a:rPr>
              <a:t>Nature Scientific Data</a:t>
            </a:r>
            <a:r>
              <a:rPr lang="en-IN" sz="1800" dirty="0">
                <a:latin typeface="+mj-lt"/>
              </a:rPr>
              <a:t>, vol. 11, no. 1, p. 68, Jan. 2024.[</a:t>
            </a:r>
            <a:r>
              <a:rPr lang="en-IN" sz="1800" dirty="0">
                <a:latin typeface="+mj-lt"/>
                <a:hlinkClick r:id="rId5"/>
              </a:rPr>
              <a:t>thelancet</a:t>
            </a:r>
            <a:r>
              <a:rPr lang="en-IN" sz="1800" dirty="0">
                <a:latin typeface="+mj-lt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+mj-lt"/>
              </a:rPr>
              <a:t>S. Zhang, Y. Liu, J. Wang, et al., "Deep survival analysis for ICU length of stay prediction using MIMIC-IV," </a:t>
            </a:r>
            <a:r>
              <a:rPr lang="en-IN" sz="1800" i="1" dirty="0">
                <a:latin typeface="+mj-lt"/>
              </a:rPr>
              <a:t>Journal of Biomedical Informatics</a:t>
            </a:r>
            <a:r>
              <a:rPr lang="en-IN" sz="1800" dirty="0">
                <a:latin typeface="+mj-lt"/>
              </a:rPr>
              <a:t>, vol. 142, p. 104365, Jun. 2023.[</a:t>
            </a:r>
            <a:r>
              <a:rPr lang="en-IN" sz="1800" dirty="0">
                <a:latin typeface="+mj-lt"/>
                <a:hlinkClick r:id="rId6"/>
              </a:rPr>
              <a:t>arxiv</a:t>
            </a:r>
            <a:r>
              <a:rPr lang="en-IN" sz="1800" dirty="0">
                <a:latin typeface="+mj-lt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+mj-lt"/>
              </a:rPr>
              <a:t>M. Veldman, J. P. </a:t>
            </a:r>
            <a:r>
              <a:rPr lang="en-IN" sz="1800" dirty="0" err="1">
                <a:latin typeface="+mj-lt"/>
              </a:rPr>
              <a:t>Thoral</a:t>
            </a:r>
            <a:r>
              <a:rPr lang="en-IN" sz="1800" dirty="0">
                <a:latin typeface="+mj-lt"/>
              </a:rPr>
              <a:t>, P. W. G. </a:t>
            </a:r>
            <a:r>
              <a:rPr lang="en-IN" sz="1800" dirty="0" err="1">
                <a:latin typeface="+mj-lt"/>
              </a:rPr>
              <a:t>Elbers</a:t>
            </a:r>
            <a:r>
              <a:rPr lang="en-IN" sz="1800" dirty="0">
                <a:latin typeface="+mj-lt"/>
              </a:rPr>
              <a:t>, et al., "Towards implementation of the ICU Realtime explainable machine learning (RT-XAI) pilot study," </a:t>
            </a:r>
            <a:r>
              <a:rPr lang="en-IN" sz="1800" i="1" dirty="0" err="1">
                <a:latin typeface="+mj-lt"/>
              </a:rPr>
              <a:t>npj</a:t>
            </a:r>
            <a:r>
              <a:rPr lang="en-IN" sz="1800" i="1" dirty="0">
                <a:latin typeface="+mj-lt"/>
              </a:rPr>
              <a:t> Digital Medicine</a:t>
            </a:r>
            <a:r>
              <a:rPr lang="en-IN" sz="1800" dirty="0">
                <a:latin typeface="+mj-lt"/>
              </a:rPr>
              <a:t>, vol. 7, no. 1, p. 123, May 2024.[</a:t>
            </a:r>
            <a:r>
              <a:rPr lang="en-IN" sz="1800" dirty="0">
                <a:latin typeface="+mj-lt"/>
                <a:hlinkClick r:id="rId7"/>
              </a:rPr>
              <a:t>nature</a:t>
            </a:r>
            <a:r>
              <a:rPr lang="en-IN" sz="1800" dirty="0">
                <a:latin typeface="+mj-lt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+mj-lt"/>
              </a:rPr>
              <a:t>M. </a:t>
            </a:r>
            <a:r>
              <a:rPr lang="en-IN" sz="1800" dirty="0" err="1">
                <a:latin typeface="+mj-lt"/>
              </a:rPr>
              <a:t>Brabrand</a:t>
            </a:r>
            <a:r>
              <a:rPr lang="en-IN" sz="1800" dirty="0">
                <a:latin typeface="+mj-lt"/>
              </a:rPr>
              <a:t>, B. L. Hansen, T. S. Hansen, et al., "Machine learning-based prediction of hospital mortality in ICU patients," </a:t>
            </a:r>
            <a:r>
              <a:rPr lang="en-IN" sz="1800" i="1" dirty="0">
                <a:latin typeface="+mj-lt"/>
              </a:rPr>
              <a:t>Scandinavian Journal of Trauma, Resuscitation and Emergency Medicine</a:t>
            </a:r>
            <a:r>
              <a:rPr lang="en-IN" sz="1800" dirty="0">
                <a:latin typeface="+mj-lt"/>
              </a:rPr>
              <a:t>, vol. 31, no. 1, p. 45, Sep. 2023.[</a:t>
            </a:r>
            <a:r>
              <a:rPr lang="en-IN" sz="1800" dirty="0">
                <a:latin typeface="+mj-lt"/>
                <a:hlinkClick r:id="rId8"/>
              </a:rPr>
              <a:t>journals.plos</a:t>
            </a:r>
            <a:r>
              <a:rPr lang="en-IN" sz="1800" dirty="0">
                <a:latin typeface="+mj-lt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+mj-lt"/>
              </a:rPr>
              <a:t>S. </a:t>
            </a:r>
            <a:r>
              <a:rPr lang="en-IN" sz="1800" dirty="0" err="1">
                <a:latin typeface="+mj-lt"/>
              </a:rPr>
              <a:t>Plečko</a:t>
            </a:r>
            <a:r>
              <a:rPr lang="en-IN" sz="1800" dirty="0">
                <a:latin typeface="+mj-lt"/>
              </a:rPr>
              <a:t>, M. </a:t>
            </a:r>
            <a:r>
              <a:rPr lang="en-IN" sz="1800" dirty="0" err="1">
                <a:latin typeface="+mj-lt"/>
              </a:rPr>
              <a:t>Grmak</a:t>
            </a:r>
            <a:r>
              <a:rPr lang="en-IN" sz="1800" dirty="0">
                <a:latin typeface="+mj-lt"/>
              </a:rPr>
              <a:t>, J. </a:t>
            </a:r>
            <a:r>
              <a:rPr lang="en-IN" sz="1800" dirty="0" err="1">
                <a:latin typeface="+mj-lt"/>
              </a:rPr>
              <a:t>Šarić</a:t>
            </a:r>
            <a:r>
              <a:rPr lang="en-IN" sz="1800" dirty="0">
                <a:latin typeface="+mj-lt"/>
              </a:rPr>
              <a:t>, et al., "A simulation model for predicting hospital occupancy for Covid-19 patients," </a:t>
            </a:r>
            <a:r>
              <a:rPr lang="en-IN" sz="1800" i="1" dirty="0">
                <a:latin typeface="+mj-lt"/>
              </a:rPr>
              <a:t>PLOS ONE</a:t>
            </a:r>
            <a:r>
              <a:rPr lang="en-IN" sz="1800" dirty="0">
                <a:latin typeface="+mj-lt"/>
              </a:rPr>
              <a:t>, vol. 18, no. 5, p. e0285432, May 2023.[</a:t>
            </a:r>
            <a:r>
              <a:rPr lang="en-IN" sz="1800" dirty="0">
                <a:latin typeface="+mj-lt"/>
                <a:hlinkClick r:id="rId9"/>
              </a:rPr>
              <a:t>pmc.ncbi.nlm.nih</a:t>
            </a:r>
            <a:r>
              <a:rPr lang="en-IN" sz="1800" dirty="0">
                <a:latin typeface="+mj-lt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+mj-lt"/>
              </a:rPr>
              <a:t>A. E. W. Johnson et al., "MIMIC-IV v3.1," PhysioNet, Oct. 2024. [Online]. Available: </a:t>
            </a:r>
            <a:r>
              <a:rPr lang="en-IN" sz="1800" dirty="0">
                <a:latin typeface="+mj-lt"/>
                <a:hlinkClick r:id="rId10"/>
              </a:rPr>
              <a:t>https://physionet.org/content/mimiciv/3.1/</a:t>
            </a:r>
            <a:r>
              <a:rPr lang="en-IN" sz="1800" dirty="0">
                <a:latin typeface="+mj-lt"/>
              </a:rPr>
              <a:t>[</a:t>
            </a:r>
            <a:r>
              <a:rPr lang="en-IN" sz="1800" dirty="0">
                <a:latin typeface="+mj-lt"/>
                <a:hlinkClick r:id="rId11"/>
              </a:rPr>
              <a:t>physionet</a:t>
            </a:r>
            <a:r>
              <a:rPr lang="en-IN" sz="1800" dirty="0">
                <a:latin typeface="+mj-lt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+mj-lt"/>
              </a:rPr>
              <a:t>E. Haug, J. M. Patel, R. Li, et al., "Clinical utility of machine learning prediction models constructed from discharge summaries," </a:t>
            </a:r>
            <a:r>
              <a:rPr lang="en-IN" sz="1800" i="1" dirty="0">
                <a:latin typeface="+mj-lt"/>
              </a:rPr>
              <a:t>Journal of the American Medical Informatics Association</a:t>
            </a:r>
            <a:r>
              <a:rPr lang="en-IN" sz="1800" dirty="0">
                <a:latin typeface="+mj-lt"/>
              </a:rPr>
              <a:t>, vol. 30, no. 11, pp. 1825-1834, Sep. 2023.[</a:t>
            </a:r>
            <a:r>
              <a:rPr lang="en-IN" sz="1800" dirty="0">
                <a:latin typeface="+mj-lt"/>
                <a:hlinkClick r:id="rId12"/>
              </a:rPr>
              <a:t>sciencedirect</a:t>
            </a:r>
            <a:r>
              <a:rPr lang="en-IN" sz="1800" dirty="0">
                <a:latin typeface="+mj-lt"/>
              </a:rPr>
              <a:t>]​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250F1D-EC54-2DC4-BBDD-40BD6FB09D82}"/>
              </a:ext>
            </a:extLst>
          </p:cNvPr>
          <p:cNvSpPr txBox="1"/>
          <p:nvPr/>
        </p:nvSpPr>
        <p:spPr>
          <a:xfrm>
            <a:off x="3495674" y="-47569"/>
            <a:ext cx="58864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+mj-lt"/>
              </a:rPr>
              <a:t>References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548B57E-04C6-08B7-3B5D-C1367120D5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-310437"/>
            <a:ext cx="12987338" cy="9886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3087" tIns="71544" rIns="143087" bIns="71544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E. W. Johnson, T. J. Pollard, J. D. Miller, et al., "MIMIC-IV, a freely accessible electronic health record dataset,"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Data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1, p. 545, Sep. 2022.[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nature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Lin, Y. Xu, H. Chen, et al., "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Multicenter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 of a machine learning model to predict ICU mortality," </a:t>
            </a:r>
            <a:r>
              <a:rPr lang="en-IN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eClinicalMedicine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71, p. 102544, Feb. 2025.[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kaggle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Komorowski, E. A. A. Kramer, L. A. Celi, et al., "The Artificial Intelligence Clinician learns optimal treatment strategies for sepsis in intensive care,"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Medicine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31, no. 2, pp. 456-463, Feb. 2025.[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sciencedirect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Jung, S. Lee, H. Kim, et al., "Multi-task deep learning for sepsis and LOS prediction in MIMIC-IV,"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Biomedical Engineering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71, no. 5, pp. 1456-1467, May 2024.[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bmjopen.bmj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Awan, A. Khan, M. U. Akram, et al., "LIME-based attention visualization for ICU time-series,"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in Medicine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138, p. 102487, Apr. 2025.[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pmc.ncbi.nlm.nih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Morin, J. Dupont, P. Morais, et al., "Scalable Apache Spark pipelines for MIMIC-IV processing,"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Research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35, p. 100312, Mar. 2024.[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ppl-ai-file-upload.s3.amazonaws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Kamran, M. A. Khan, S. M. Riaz, et al., "Counterfactual explanations for ICU length of stay prediction," in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Machine Learning for Healthcare Conf.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Ann Arbor, MI, USA, 2024, pp. 245-260.[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nature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Chen, Y. Li, X. Wang, et al., "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dashboards for real-time MIMIC-IV predictions," </a:t>
            </a:r>
            <a:r>
              <a:rPr lang="en-IN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arXiv:2501.04567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Jan. 2025.[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nature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Park, J. Kim, S. Choi, et al., "Multimodal fusion of EHR and waveforms in MIMIC-IV,"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Digital Medicine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no. 1, p. 89, Mar. 2024.[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frontiersin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]​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Saeed, D. E. Villarroel, T. J. Pollard, et al., "Handling sepsis class imbalance with SMOTE in MIMIC-III," 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JAMIA Open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2, pp. 234-241, Jun. 2023.[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formative.jmir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1114</TotalTime>
  <Words>4368</Words>
  <Application>Microsoft Macintosh PowerPoint</Application>
  <PresentationFormat>Custom</PresentationFormat>
  <Paragraphs>546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Aptos</vt:lpstr>
      <vt:lpstr>Arial</vt:lpstr>
      <vt:lpstr>Calibri</vt:lpstr>
      <vt:lpstr>Courier New</vt:lpstr>
      <vt:lpstr>fkGroteskNeue</vt:lpstr>
      <vt:lpstr>Symbol</vt:lpstr>
      <vt:lpstr>Times New Roman</vt:lpstr>
      <vt:lpstr>Wingdings</vt:lpstr>
      <vt:lpstr>Office Theme</vt:lpstr>
      <vt:lpstr>BCSE498J Project-II / CBS1904 - Capstone Project  ICU Resource Forecasting and Sepsis Prediction Using MIMIC and Machine Learning </vt:lpstr>
      <vt:lpstr>Contents</vt:lpstr>
      <vt:lpstr>INTRODUCTION </vt:lpstr>
      <vt:lpstr>Introduction – Motivation</vt:lpstr>
      <vt:lpstr>Problem Statement</vt:lpstr>
      <vt:lpstr>Problem statement</vt:lpstr>
      <vt:lpstr>Literature Survey – 1</vt:lpstr>
      <vt:lpstr>Literature Survey – 2</vt:lpstr>
      <vt:lpstr>Literature Survey – 3</vt:lpstr>
      <vt:lpstr>Literature Survey – 4</vt:lpstr>
      <vt:lpstr>Performance Summary Across 52 Papers:</vt:lpstr>
      <vt:lpstr>Gap Analysis</vt:lpstr>
      <vt:lpstr> RESEARCH OBJECTIVES </vt:lpstr>
      <vt:lpstr>PowerPoint Presentation</vt:lpstr>
      <vt:lpstr>PowerPoint Presentation</vt:lpstr>
      <vt:lpstr>PowerPoint Presentation</vt:lpstr>
      <vt:lpstr>PowerPoint Presentation</vt:lpstr>
      <vt:lpstr>PROPOSED SYSTEM OVERVIEW </vt:lpstr>
      <vt:lpstr>PowerPoint Presentation</vt:lpstr>
      <vt:lpstr>PowerPoint Presentation</vt:lpstr>
      <vt:lpstr>Module 1</vt:lpstr>
      <vt:lpstr>PowerPoint Presentation</vt:lpstr>
      <vt:lpstr>Module 2</vt:lpstr>
      <vt:lpstr>Module 3</vt:lpstr>
      <vt:lpstr>Module 4</vt:lpstr>
      <vt:lpstr>Module 5</vt:lpstr>
      <vt:lpstr>IMPLEMENTATION RESULTS </vt:lpstr>
      <vt:lpstr>Resource Forecasting Results </vt:lpstr>
      <vt:lpstr>Sepsis Prediction Results </vt:lpstr>
      <vt:lpstr>System Performance &amp; Benchmarking </vt:lpstr>
      <vt:lpstr>Conclusion</vt:lpstr>
      <vt:lpstr>References – 1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Somil Arora</cp:lastModifiedBy>
  <cp:revision>6</cp:revision>
  <dcterms:created xsi:type="dcterms:W3CDTF">2013-01-27T09:14:16Z</dcterms:created>
  <dcterms:modified xsi:type="dcterms:W3CDTF">2026-02-01T23:00:49Z</dcterms:modified>
  <cp:category/>
</cp:coreProperties>
</file>